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4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78" r:id="rId12"/>
    <p:sldId id="263" r:id="rId13"/>
    <p:sldId id="264" r:id="rId14"/>
    <p:sldId id="279" r:id="rId15"/>
    <p:sldId id="280" r:id="rId16"/>
    <p:sldId id="281" r:id="rId17"/>
    <p:sldId id="282" r:id="rId18"/>
    <p:sldId id="286" r:id="rId19"/>
    <p:sldId id="265" r:id="rId20"/>
    <p:sldId id="285" r:id="rId21"/>
    <p:sldId id="283" r:id="rId22"/>
    <p:sldId id="284" r:id="rId23"/>
    <p:sldId id="288" r:id="rId24"/>
    <p:sldId id="289" r:id="rId25"/>
    <p:sldId id="287" r:id="rId26"/>
    <p:sldId id="271" r:id="rId27"/>
    <p:sldId id="290" r:id="rId28"/>
    <p:sldId id="291" r:id="rId29"/>
    <p:sldId id="298" r:id="rId30"/>
    <p:sldId id="294" r:id="rId31"/>
    <p:sldId id="300" r:id="rId32"/>
    <p:sldId id="299" r:id="rId33"/>
    <p:sldId id="293" r:id="rId34"/>
    <p:sldId id="292" r:id="rId35"/>
    <p:sldId id="275" r:id="rId36"/>
    <p:sldId id="295" r:id="rId37"/>
    <p:sldId id="296" r:id="rId38"/>
    <p:sldId id="276" r:id="rId39"/>
    <p:sldId id="297" r:id="rId40"/>
    <p:sldId id="277" r:id="rId41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hpfeKN0SEPJAs1Wv5AdaE1dLB1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customschemas.google.com/relationships/presentationmetadata" Target="meta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1E8705-3582-4DF8-A4A8-B496B3BCBD46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96AE61F9-A671-442D-B778-E0BF6DE969FA}">
      <dgm:prSet/>
      <dgm:spPr/>
      <dgm:t>
        <a:bodyPr/>
        <a:lstStyle/>
        <a:p>
          <a:r>
            <a:rPr lang="en-US" b="1" i="0" dirty="0"/>
            <a:t>5,000</a:t>
          </a:r>
          <a:br>
            <a:rPr lang="en-US" b="0" i="0" dirty="0"/>
          </a:br>
          <a:r>
            <a:rPr lang="en-US" b="0" i="0" dirty="0"/>
            <a:t>Simulated trucks on fixed corridors</a:t>
          </a:r>
          <a:endParaRPr lang="en-US" dirty="0"/>
        </a:p>
      </dgm:t>
    </dgm:pt>
    <dgm:pt modelId="{6BDE674E-8CD8-434C-B850-BD6239F2263F}" type="parTrans" cxnId="{385FAC9C-B801-43F9-BE81-A4B4FD0AFD0C}">
      <dgm:prSet/>
      <dgm:spPr/>
      <dgm:t>
        <a:bodyPr/>
        <a:lstStyle/>
        <a:p>
          <a:endParaRPr lang="en-US"/>
        </a:p>
      </dgm:t>
    </dgm:pt>
    <dgm:pt modelId="{E8BFCAD4-D053-4BA0-9588-04A12DF2A977}" type="sibTrans" cxnId="{385FAC9C-B801-43F9-BE81-A4B4FD0AFD0C}">
      <dgm:prSet/>
      <dgm:spPr/>
      <dgm:t>
        <a:bodyPr/>
        <a:lstStyle/>
        <a:p>
          <a:endParaRPr lang="en-US"/>
        </a:p>
      </dgm:t>
    </dgm:pt>
    <dgm:pt modelId="{E0236ACD-D5B8-4263-8908-FC28215C68C5}">
      <dgm:prSet/>
      <dgm:spPr/>
      <dgm:t>
        <a:bodyPr/>
        <a:lstStyle/>
        <a:p>
          <a:r>
            <a:rPr lang="en-US" b="1" i="0" dirty="0"/>
            <a:t>4 signals</a:t>
          </a:r>
          <a:br>
            <a:rPr lang="en-US" b="0" i="0" dirty="0"/>
          </a:br>
          <a:r>
            <a:rPr lang="en-US" b="0" i="0" dirty="0"/>
            <a:t>GPS, engine, fuel, temperature</a:t>
          </a:r>
          <a:endParaRPr lang="en-US" dirty="0"/>
        </a:p>
      </dgm:t>
    </dgm:pt>
    <dgm:pt modelId="{BD4405EB-25FA-48D4-86D8-C6C8116DA154}" type="parTrans" cxnId="{0E37CDAF-333B-4692-BD30-2ACF21765D7B}">
      <dgm:prSet/>
      <dgm:spPr/>
      <dgm:t>
        <a:bodyPr/>
        <a:lstStyle/>
        <a:p>
          <a:endParaRPr lang="en-US"/>
        </a:p>
      </dgm:t>
    </dgm:pt>
    <dgm:pt modelId="{CEE68D21-673E-482E-B979-22E83848FAC7}" type="sibTrans" cxnId="{0E37CDAF-333B-4692-BD30-2ACF21765D7B}">
      <dgm:prSet/>
      <dgm:spPr/>
      <dgm:t>
        <a:bodyPr/>
        <a:lstStyle/>
        <a:p>
          <a:endParaRPr lang="en-US"/>
        </a:p>
      </dgm:t>
    </dgm:pt>
    <dgm:pt modelId="{BDF9A539-4D10-4D4B-BE4B-651F4AFFEDA5}">
      <dgm:prSet/>
      <dgm:spPr/>
      <dgm:t>
        <a:bodyPr/>
        <a:lstStyle/>
        <a:p>
          <a:r>
            <a:rPr lang="en-US" b="1" i="0" dirty="0"/>
            <a:t>2 paths</a:t>
          </a:r>
          <a:br>
            <a:rPr lang="en-US" b="0" i="0" dirty="0"/>
          </a:br>
          <a:r>
            <a:rPr lang="en-US" b="0" i="0" dirty="0"/>
            <a:t>Fast for alerts, slow for truth</a:t>
          </a:r>
          <a:endParaRPr lang="en-US" dirty="0"/>
        </a:p>
      </dgm:t>
    </dgm:pt>
    <dgm:pt modelId="{5EFF6FF8-3CCE-498B-A853-D4D34D94704C}" type="parTrans" cxnId="{A316CC7E-3DF5-4550-8A3F-778407AD7700}">
      <dgm:prSet/>
      <dgm:spPr/>
      <dgm:t>
        <a:bodyPr/>
        <a:lstStyle/>
        <a:p>
          <a:endParaRPr lang="en-US"/>
        </a:p>
      </dgm:t>
    </dgm:pt>
    <dgm:pt modelId="{468A8F47-600A-4A6E-8219-84EB3D4DBECA}" type="sibTrans" cxnId="{A316CC7E-3DF5-4550-8A3F-778407AD7700}">
      <dgm:prSet/>
      <dgm:spPr/>
      <dgm:t>
        <a:bodyPr/>
        <a:lstStyle/>
        <a:p>
          <a:endParaRPr lang="en-US"/>
        </a:p>
      </dgm:t>
    </dgm:pt>
    <dgm:pt modelId="{4280DC15-686E-4A6C-A8CD-69065280F6DA}" type="pres">
      <dgm:prSet presAssocID="{851E8705-3582-4DF8-A4A8-B496B3BCBD46}" presName="linear" presStyleCnt="0">
        <dgm:presLayoutVars>
          <dgm:animLvl val="lvl"/>
          <dgm:resizeHandles val="exact"/>
        </dgm:presLayoutVars>
      </dgm:prSet>
      <dgm:spPr/>
    </dgm:pt>
    <dgm:pt modelId="{840193BD-26DD-406C-BBFC-48463236CD35}" type="pres">
      <dgm:prSet presAssocID="{96AE61F9-A671-442D-B778-E0BF6DE969FA}" presName="parentText" presStyleLbl="node1" presStyleIdx="0" presStyleCnt="3" custLinFactY="-44901" custLinFactNeighborX="-1549" custLinFactNeighborY="-100000">
        <dgm:presLayoutVars>
          <dgm:chMax val="0"/>
          <dgm:bulletEnabled val="1"/>
        </dgm:presLayoutVars>
      </dgm:prSet>
      <dgm:spPr/>
    </dgm:pt>
    <dgm:pt modelId="{B8EE00D9-9110-4F2C-A853-D4B27189DDE5}" type="pres">
      <dgm:prSet presAssocID="{E8BFCAD4-D053-4BA0-9588-04A12DF2A977}" presName="spacer" presStyleCnt="0"/>
      <dgm:spPr/>
    </dgm:pt>
    <dgm:pt modelId="{F9D48F48-360A-4F7E-9ABB-7EC5D0433DD2}" type="pres">
      <dgm:prSet presAssocID="{E0236ACD-D5B8-4263-8908-FC28215C68C5}" presName="parentText" presStyleLbl="node1" presStyleIdx="1" presStyleCnt="3" custLinFactNeighborX="9977" custLinFactNeighborY="-6546">
        <dgm:presLayoutVars>
          <dgm:chMax val="0"/>
          <dgm:bulletEnabled val="1"/>
        </dgm:presLayoutVars>
      </dgm:prSet>
      <dgm:spPr/>
    </dgm:pt>
    <dgm:pt modelId="{7271CCA5-6915-4BC2-A228-238437689D43}" type="pres">
      <dgm:prSet presAssocID="{CEE68D21-673E-482E-B979-22E83848FAC7}" presName="spacer" presStyleCnt="0"/>
      <dgm:spPr/>
    </dgm:pt>
    <dgm:pt modelId="{81BC54EE-3A63-46ED-896F-88074157B665}" type="pres">
      <dgm:prSet presAssocID="{BDF9A539-4D10-4D4B-BE4B-651F4AFFEDA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4E9CA15-5DF7-4D81-98B4-999C09CB094E}" type="presOf" srcId="{96AE61F9-A671-442D-B778-E0BF6DE969FA}" destId="{840193BD-26DD-406C-BBFC-48463236CD35}" srcOrd="0" destOrd="0" presId="urn:microsoft.com/office/officeart/2005/8/layout/vList2"/>
    <dgm:cxn modelId="{E39CA33C-EAD6-41F8-91C4-E16681C228E5}" type="presOf" srcId="{E0236ACD-D5B8-4263-8908-FC28215C68C5}" destId="{F9D48F48-360A-4F7E-9ABB-7EC5D0433DD2}" srcOrd="0" destOrd="0" presId="urn:microsoft.com/office/officeart/2005/8/layout/vList2"/>
    <dgm:cxn modelId="{EF12C644-5571-48E0-BD75-44886822D89B}" type="presOf" srcId="{BDF9A539-4D10-4D4B-BE4B-651F4AFFEDA5}" destId="{81BC54EE-3A63-46ED-896F-88074157B665}" srcOrd="0" destOrd="0" presId="urn:microsoft.com/office/officeart/2005/8/layout/vList2"/>
    <dgm:cxn modelId="{8D98984E-38E8-4AF0-9723-ACFBFC09C8BF}" type="presOf" srcId="{851E8705-3582-4DF8-A4A8-B496B3BCBD46}" destId="{4280DC15-686E-4A6C-A8CD-69065280F6DA}" srcOrd="0" destOrd="0" presId="urn:microsoft.com/office/officeart/2005/8/layout/vList2"/>
    <dgm:cxn modelId="{A316CC7E-3DF5-4550-8A3F-778407AD7700}" srcId="{851E8705-3582-4DF8-A4A8-B496B3BCBD46}" destId="{BDF9A539-4D10-4D4B-BE4B-651F4AFFEDA5}" srcOrd="2" destOrd="0" parTransId="{5EFF6FF8-3CCE-498B-A853-D4D34D94704C}" sibTransId="{468A8F47-600A-4A6E-8219-84EB3D4DBECA}"/>
    <dgm:cxn modelId="{385FAC9C-B801-43F9-BE81-A4B4FD0AFD0C}" srcId="{851E8705-3582-4DF8-A4A8-B496B3BCBD46}" destId="{96AE61F9-A671-442D-B778-E0BF6DE969FA}" srcOrd="0" destOrd="0" parTransId="{6BDE674E-8CD8-434C-B850-BD6239F2263F}" sibTransId="{E8BFCAD4-D053-4BA0-9588-04A12DF2A977}"/>
    <dgm:cxn modelId="{0E37CDAF-333B-4692-BD30-2ACF21765D7B}" srcId="{851E8705-3582-4DF8-A4A8-B496B3BCBD46}" destId="{E0236ACD-D5B8-4263-8908-FC28215C68C5}" srcOrd="1" destOrd="0" parTransId="{BD4405EB-25FA-48D4-86D8-C6C8116DA154}" sibTransId="{CEE68D21-673E-482E-B979-22E83848FAC7}"/>
    <dgm:cxn modelId="{83935FAE-F321-4C5D-9E4E-53641FC59CF4}" type="presParOf" srcId="{4280DC15-686E-4A6C-A8CD-69065280F6DA}" destId="{840193BD-26DD-406C-BBFC-48463236CD35}" srcOrd="0" destOrd="0" presId="urn:microsoft.com/office/officeart/2005/8/layout/vList2"/>
    <dgm:cxn modelId="{69406365-AE49-4765-9C7B-7BAF0EF9715C}" type="presParOf" srcId="{4280DC15-686E-4A6C-A8CD-69065280F6DA}" destId="{B8EE00D9-9110-4F2C-A853-D4B27189DDE5}" srcOrd="1" destOrd="0" presId="urn:microsoft.com/office/officeart/2005/8/layout/vList2"/>
    <dgm:cxn modelId="{0A66E130-85B4-4193-A813-EDAA0B830959}" type="presParOf" srcId="{4280DC15-686E-4A6C-A8CD-69065280F6DA}" destId="{F9D48F48-360A-4F7E-9ABB-7EC5D0433DD2}" srcOrd="2" destOrd="0" presId="urn:microsoft.com/office/officeart/2005/8/layout/vList2"/>
    <dgm:cxn modelId="{3C83B168-AEAC-482E-BBA1-412F8D6F2636}" type="presParOf" srcId="{4280DC15-686E-4A6C-A8CD-69065280F6DA}" destId="{7271CCA5-6915-4BC2-A228-238437689D43}" srcOrd="3" destOrd="0" presId="urn:microsoft.com/office/officeart/2005/8/layout/vList2"/>
    <dgm:cxn modelId="{C77A92E9-15FE-4200-BAAA-B2C457AEADF6}" type="presParOf" srcId="{4280DC15-686E-4A6C-A8CD-69065280F6DA}" destId="{81BC54EE-3A63-46ED-896F-88074157B66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D9B83D-B49D-4F5A-94AF-3524984B604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288DB9-A5C9-4FA5-8D80-6F9BB4710C28}" type="pres">
      <dgm:prSet presAssocID="{64D9B83D-B49D-4F5A-94AF-3524984B604D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B5B1B602-0CC7-40DE-8C0E-A907E46AF526}" type="presOf" srcId="{64D9B83D-B49D-4F5A-94AF-3524984B604D}" destId="{B0288DB9-A5C9-4FA5-8D80-6F9BB4710C2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0193BD-26DD-406C-BBFC-48463236CD35}">
      <dsp:nvSpPr>
        <dsp:cNvPr id="0" name=""/>
        <dsp:cNvSpPr/>
      </dsp:nvSpPr>
      <dsp:spPr>
        <a:xfrm>
          <a:off x="0" y="0"/>
          <a:ext cx="10160716" cy="7722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5,000</a:t>
          </a:r>
          <a:br>
            <a:rPr lang="en-US" sz="2000" b="0" i="0" kern="1200" dirty="0"/>
          </a:br>
          <a:r>
            <a:rPr lang="en-US" sz="2000" b="0" i="0" kern="1200" dirty="0"/>
            <a:t>Simulated trucks on fixed corridors</a:t>
          </a:r>
          <a:endParaRPr lang="en-US" sz="2000" kern="1200" dirty="0"/>
        </a:p>
      </dsp:txBody>
      <dsp:txXfrm>
        <a:off x="37696" y="37696"/>
        <a:ext cx="10085324" cy="696808"/>
      </dsp:txXfrm>
    </dsp:sp>
    <dsp:sp modelId="{F9D48F48-360A-4F7E-9ABB-7EC5D0433DD2}">
      <dsp:nvSpPr>
        <dsp:cNvPr id="0" name=""/>
        <dsp:cNvSpPr/>
      </dsp:nvSpPr>
      <dsp:spPr>
        <a:xfrm>
          <a:off x="0" y="834794"/>
          <a:ext cx="10160716" cy="772200"/>
        </a:xfrm>
        <a:prstGeom prst="round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4 signals</a:t>
          </a:r>
          <a:br>
            <a:rPr lang="en-US" sz="2000" b="0" i="0" kern="1200" dirty="0"/>
          </a:br>
          <a:r>
            <a:rPr lang="en-US" sz="2000" b="0" i="0" kern="1200" dirty="0"/>
            <a:t>GPS, engine, fuel, temperature</a:t>
          </a:r>
          <a:endParaRPr lang="en-US" sz="2000" kern="1200" dirty="0"/>
        </a:p>
      </dsp:txBody>
      <dsp:txXfrm>
        <a:off x="37696" y="872490"/>
        <a:ext cx="10085324" cy="696808"/>
      </dsp:txXfrm>
    </dsp:sp>
    <dsp:sp modelId="{81BC54EE-3A63-46ED-896F-88074157B665}">
      <dsp:nvSpPr>
        <dsp:cNvPr id="0" name=""/>
        <dsp:cNvSpPr/>
      </dsp:nvSpPr>
      <dsp:spPr>
        <a:xfrm>
          <a:off x="0" y="1668364"/>
          <a:ext cx="10160716" cy="77220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2 paths</a:t>
          </a:r>
          <a:br>
            <a:rPr lang="en-US" sz="2000" b="0" i="0" kern="1200" dirty="0"/>
          </a:br>
          <a:r>
            <a:rPr lang="en-US" sz="2000" b="0" i="0" kern="1200" dirty="0"/>
            <a:t>Fast for alerts, slow for truth</a:t>
          </a:r>
          <a:endParaRPr lang="en-US" sz="2000" kern="1200" dirty="0"/>
        </a:p>
      </dsp:txBody>
      <dsp:txXfrm>
        <a:off x="37696" y="1706060"/>
        <a:ext cx="10085324" cy="6968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110" name="Google Shape;11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147" name="Google Shape;14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177" name="Google Shape;17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186" name="Google Shape;18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16" name="Google Shape;21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EC6392F8-A6B3-45FE-9286-BA13C0D0F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896A9BC6-CB62-B834-7B2C-2E612E9F97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>
            <a:extLst>
              <a:ext uri="{FF2B5EF4-FFF2-40B4-BE49-F238E27FC236}">
                <a16:creationId xmlns:a16="http://schemas.microsoft.com/office/drawing/2014/main" id="{6DC664EB-8C0C-840C-7843-DF8D5D1675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177" name="Google Shape;177;p5:notes">
            <a:extLst>
              <a:ext uri="{FF2B5EF4-FFF2-40B4-BE49-F238E27FC236}">
                <a16:creationId xmlns:a16="http://schemas.microsoft.com/office/drawing/2014/main" id="{EBB8F3ED-A794-E312-E50F-649FFDBD2C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651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25" name="Google Shape;22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5FAC7F94-5D0D-6D10-A4B4-9B820225C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0231F5E2-01F0-57DB-638E-408E36862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52FC91B3-B09D-1178-A24C-3D8B0CAB4B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B3E1011D-7D7E-F0BE-57C2-3C803BDCF9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3686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9A19A37D-F5FA-4B23-8D3E-A56C812A5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DFB2F398-DF87-8D2E-8FF3-425FA31931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EB8A09BE-38BA-AE3C-2DA0-7B7EBDAA87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A55771A3-41E1-2B86-2A91-F32AE78268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1984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0F7B1155-BB64-09E3-FFF7-331884BCD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C1BE2A5D-588D-97AA-5034-0FC34CB338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4F5FBC74-F786-AC3F-6A81-2EF1EDB0B3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607178FD-B2AD-5CB7-C9A3-DCB226015C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0007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1A3D98C5-94F2-7463-9504-B8F74DF62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9AB0F3F4-F2C2-F2E5-8FC4-295A2E7D04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0A16EBB2-ACE9-C60D-DBEB-C8F12B460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90DFC421-A5B3-578A-829A-9D182F06D0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5186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480A5FAE-6761-B9B7-B6EA-C1DB3732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90E064EB-5004-E01E-331D-627303E893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9EF4D16A-C6C1-72C5-A7D4-144C699FCE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EDD7155C-4DEF-E40F-15F4-D647766917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1764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64" name="Google Shape;26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73EC7C88-2FE3-76F0-5142-0EF045011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812A770F-BE82-3ABA-B257-03A7CC8904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E6F50B4F-0C12-3144-73F7-D972CB0755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207089F7-D69D-57C0-51A3-89E3330BF7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280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25F3AADA-1D1F-C07A-A67E-0B24ED1E4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E16FEE23-4506-2B9E-1D5C-9608929378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A9770AD8-EAA1-95C5-EEE7-D7DA2F75DB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53A5692A-6927-C411-A7C3-8EAC51B497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3638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D89A2563-E047-9082-83EC-8763A53CE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FCDCE921-EDE9-9379-94A6-8A68CF1CE0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87273B2B-4412-CF80-9A4B-FBBE4D8082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331AC8A4-DFF6-CD0C-FF88-E05D39DDD8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34008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E8966028-46A7-8BE1-061C-77F2A495E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51157492-1B85-2910-C77E-040441866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A3502FAC-8E03-A445-57E9-782079FED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66DC666C-5B55-0D3F-B9E8-1BA3F1A953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15066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8E81026D-421E-0067-97BD-F96B1382F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34BD2F22-83DB-9E0C-4BAC-5068075296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AF791E18-A68D-1672-AA80-C3E637A23F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6EB81D90-7062-C76A-34E0-3F09680F2B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77806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46B2EEC5-9392-4ECD-9A58-6843F601C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8ECA2041-0058-AE53-05AD-43AC8CE74F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96421214-9D28-1259-F47C-972019A781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3E0B26DF-A412-3DBE-8565-197C31A110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071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39" name="Google Shape;33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201F8645-3A93-C27F-5FD7-EF43C679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3968CFF6-5896-5279-9420-2A2B8EA9AF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E966B9C1-1898-A03B-C239-11E044C738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D1D315AA-5239-17F3-6A6D-999F89EB27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02833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01DCB812-3689-2C83-43B9-4CF0311D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D40E3FB0-C8F3-8080-C062-DAB425832A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8C1C5672-AB1F-0D21-F966-8DDD905325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9C084065-A5BD-4625-7601-8E94D10A0E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55313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7B51D081-929C-1F35-B540-A7D3271C0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FB97FA2D-9629-4B5E-4B91-CBE516E27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AE39A237-DE5B-09F5-EDC1-2A3632B399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F3D7C1C1-F0BD-1BF4-503C-65750799F2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20214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B0760416-C416-6EB4-2FFC-22EA9D092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9F4293CE-F556-8AAD-4F0E-1D92972B98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E5D9C93F-F177-89E5-89C4-374F10CC41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3C8CC348-FD3A-C52C-7BA0-8D3A3A165F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86094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18357DFB-D9AC-CD28-734B-9BD33ED4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1C9890F8-D616-29EC-9539-5FCB93B1E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F636ADB9-122A-80E1-C841-9B52A0442B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D79A71B9-8268-62E4-EECA-66E76A23DE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44587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9F7A4774-5228-A472-8B27-0EE1EFABE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6CC96569-FCF4-9390-7749-4BFF0E1551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E74876D2-8BC0-4A3F-CAD8-B564BF48C4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EB205107-730F-131B-4B5E-AA338E4893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7948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C5E4E8AA-F861-F4E8-41F1-8AC816FE0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267EECEC-E0B6-6F6F-F302-1730E53C7A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B8231146-26D9-627F-FECF-D8D3330397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34C2174F-2FCA-BF17-8002-F23C6AB37A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00806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D4FD300D-0410-DD88-AE61-B2A0E64B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56E98A70-941C-6B0C-8CE4-6E231916D8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84EF3551-5BDB-5561-A8F2-9B0B556DEF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4BB93EB4-0F39-AA41-7825-837FA1253D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08334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90" name="Google Shape;39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844676F5-9405-026E-A6ED-F3C63ED0E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EA2D32BC-489B-8817-AF08-F456CF06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CB3C675F-2431-29D9-F5EE-040DF61F89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A81A5CAB-6AAC-4D1E-F58E-15E1788C8E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99183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70C7E8B6-B97D-A31A-CB1E-D11A12A76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3459B46F-E1DC-69E5-9AF7-0FAB1C8E01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3C9CFAEE-AF4D-DE17-E716-F83548B74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6E91FC00-1EAF-4A35-62DC-7860CE4A34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83715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77" name="Google Shape;477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</a:rPr>
              <a:t>35</a:t>
            </a:fld>
            <a:endParaRPr sz="1200" b="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83" name="Google Shape;483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</a:rPr>
              <a:t>36</a:t>
            </a:fld>
            <a:endParaRPr sz="1200" b="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m Cover">
  <p:cSld name="Interim Cover">
    <p:bg>
      <p:bgPr>
        <a:solidFill>
          <a:srgbClr val="193EB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43132" y="370513"/>
            <a:ext cx="2952967" cy="78613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4"/>
          <p:cNvSpPr/>
          <p:nvPr/>
        </p:nvSpPr>
        <p:spPr>
          <a:xfrm>
            <a:off x="915806" y="605937"/>
            <a:ext cx="2513353" cy="315288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7125" tIns="68550" rIns="137125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5"/>
          <p:cNvSpPr/>
          <p:nvPr/>
        </p:nvSpPr>
        <p:spPr>
          <a:xfrm>
            <a:off x="1" y="0"/>
            <a:ext cx="18288000" cy="3105807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spcFirstLastPara="1" wrap="square" lIns="137125" tIns="68550" rIns="137125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5"/>
          <p:cNvSpPr/>
          <p:nvPr/>
        </p:nvSpPr>
        <p:spPr>
          <a:xfrm>
            <a:off x="1057441" y="9533057"/>
            <a:ext cx="533485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50"/>
              <a:buFont typeface="Arial"/>
              <a:buNone/>
            </a:pPr>
            <a:r>
              <a:rPr lang="en-US" sz="195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193EB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/>
          <p:nvPr/>
        </p:nvSpPr>
        <p:spPr>
          <a:xfrm>
            <a:off x="1057441" y="9533057"/>
            <a:ext cx="533485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 Cover">
  <p:cSld name="Back Cover">
    <p:bg>
      <p:bgPr>
        <a:solidFill>
          <a:srgbClr val="193EB0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/>
          <p:nvPr/>
        </p:nvSpPr>
        <p:spPr>
          <a:xfrm>
            <a:off x="1095078" y="8446562"/>
            <a:ext cx="17192922" cy="1102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ⓒ2020 SAMSUNG. All rights reserved.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7"/>
          <p:cNvSpPr/>
          <p:nvPr/>
        </p:nvSpPr>
        <p:spPr>
          <a:xfrm>
            <a:off x="14896875" y="605937"/>
            <a:ext cx="2513353" cy="315288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7125" tIns="68550" rIns="137125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41182" y="3943319"/>
            <a:ext cx="6205635" cy="1653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1" name="Google Shape;81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/>
          <p:nvPr/>
        </p:nvSpPr>
        <p:spPr>
          <a:xfrm>
            <a:off x="2245125" y="2935375"/>
            <a:ext cx="13102949" cy="101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sz="4800" b="1" dirty="0">
                <a:solidFill>
                  <a:schemeClr val="bg1"/>
                </a:solidFill>
              </a:rPr>
              <a:t>Fleet Telematics Lakehouse &amp; Logistics Analytics Platform</a:t>
            </a:r>
            <a:endParaRPr sz="48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066800" y="5943892"/>
            <a:ext cx="9067500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SIC 8</a:t>
            </a:r>
            <a:endParaRPr sz="3600" b="0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066800" y="6646230"/>
            <a:ext cx="23566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B3E3"/>
                </a:solidFill>
                <a:latin typeface="Arial"/>
                <a:ea typeface="Arial"/>
                <a:cs typeface="Arial"/>
                <a:sym typeface="Arial"/>
              </a:rPr>
              <a:t>BD Course</a:t>
            </a:r>
            <a:endParaRPr sz="3150">
              <a:solidFill>
                <a:srgbClr val="00B3E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974506" y="7181520"/>
            <a:ext cx="742623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0B3E3"/>
                </a:solidFill>
                <a:latin typeface="Calibri"/>
                <a:ea typeface="Calibri"/>
                <a:cs typeface="Calibri"/>
                <a:sym typeface="Calibri"/>
              </a:rPr>
              <a:t>Group </a:t>
            </a:r>
            <a:r>
              <a:rPr lang="ar-EG" sz="3600" dirty="0">
                <a:solidFill>
                  <a:srgbClr val="00B3E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" descr="Refrigerated delivery truck on a tracked rou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83926" y="3623739"/>
            <a:ext cx="8153400" cy="711556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416325" y="9542282"/>
            <a:ext cx="125747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Logistics Analytics Platform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5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2"/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114" name="Google Shape;114;p2"/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  <a:endParaRPr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117" name="Google Shape;117;p2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2819400" y="4838700"/>
            <a:ext cx="8553420" cy="417185"/>
            <a:chOff x="571500" y="3764860"/>
            <a:chExt cx="5702280" cy="278123"/>
          </a:xfrm>
        </p:grpSpPr>
        <p:sp>
          <p:nvSpPr>
            <p:cNvPr id="120" name="Google Shape;120;p2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2819400" y="5372100"/>
            <a:ext cx="8553420" cy="417167"/>
            <a:chOff x="571500" y="5165783"/>
            <a:chExt cx="5702280" cy="278111"/>
          </a:xfrm>
        </p:grpSpPr>
        <p:sp>
          <p:nvSpPr>
            <p:cNvPr id="123" name="Google Shape;123;p2"/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126" name="Google Shape;126;p2"/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Results and Insights</a:t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129" name="Google Shape;129;p2"/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132" name="Google Shape;132;p2"/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135" name="Google Shape;135;p2"/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/>
          <p:nvPr/>
        </p:nvSpPr>
        <p:spPr>
          <a:xfrm>
            <a:off x="3230136" y="3475170"/>
            <a:ext cx="13439140" cy="294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indent="-68580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4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Alaa Hany</a:t>
            </a:r>
            <a:endParaRPr lang="en-US" sz="4800" dirty="0"/>
          </a:p>
          <a:p>
            <a:pPr marL="685800" indent="-68580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4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Sara Mohmed</a:t>
            </a:r>
            <a:endParaRPr lang="ar-EG" sz="4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  <a:p>
            <a:pPr marL="685800" marR="0" lvl="0" indent="-6858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4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Yassin Shaban</a:t>
            </a:r>
            <a:endParaRPr lang="ar-EG" sz="4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indent="-68580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4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Yusuf Ahmed </a:t>
            </a:r>
          </a:p>
          <a:p>
            <a:pPr marL="685800" marR="0" lvl="0" indent="-6858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4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</p:txBody>
      </p:sp>
      <p:cxnSp>
        <p:nvCxnSpPr>
          <p:cNvPr id="142" name="Google Shape;142;p3"/>
          <p:cNvCxnSpPr/>
          <p:nvPr/>
        </p:nvCxnSpPr>
        <p:spPr>
          <a:xfrm flipH="1">
            <a:off x="2667000" y="2962214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3" name="Google Shape;143;p3"/>
          <p:cNvSpPr/>
          <p:nvPr/>
        </p:nvSpPr>
        <p:spPr>
          <a:xfrm>
            <a:off x="2438400" y="1409700"/>
            <a:ext cx="11261850" cy="101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5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" name="Google Shape;150;p4"/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151" name="Google Shape;151;p4"/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Team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4"/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154" name="Google Shape;154;p4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 dirty="0"/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4"/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157" name="Google Shape;157;p4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4"/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160" name="Google Shape;160;p4"/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4"/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163" name="Google Shape;163;p4"/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Results and Insights</a:t>
              </a: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4"/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166" name="Google Shape;166;p4"/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4"/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169" name="Google Shape;169;p4"/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4"/>
          <p:cNvGrpSpPr/>
          <p:nvPr/>
        </p:nvGrpSpPr>
        <p:grpSpPr>
          <a:xfrm>
            <a:off x="2819400" y="6134100"/>
            <a:ext cx="8553420" cy="417186"/>
            <a:chOff x="571500" y="5165783"/>
            <a:chExt cx="5702280" cy="278124"/>
          </a:xfrm>
        </p:grpSpPr>
        <p:sp>
          <p:nvSpPr>
            <p:cNvPr id="172" name="Google Shape;172;p4"/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/>
          <p:nvPr/>
        </p:nvSpPr>
        <p:spPr>
          <a:xfrm>
            <a:off x="1356445" y="692170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5"/>
          <p:cNvCxnSpPr/>
          <p:nvPr/>
        </p:nvCxnSpPr>
        <p:spPr>
          <a:xfrm flipH="1">
            <a:off x="1336691" y="2693949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2" name="Google Shape;182;p5"/>
          <p:cNvSpPr txBox="1"/>
          <p:nvPr/>
        </p:nvSpPr>
        <p:spPr>
          <a:xfrm>
            <a:off x="1555595" y="2504589"/>
            <a:ext cx="16047582" cy="541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chemeClr val="bg1"/>
                </a:solidFill>
              </a:rPr>
              <a:t>Every truck talks. Nobody was listening.</a:t>
            </a:r>
            <a:endParaRPr lang="ar-EG" sz="3600" b="1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3600" b="1" dirty="0">
              <a:solidFill>
                <a:schemeClr val="bg1"/>
              </a:solidFill>
            </a:endParaRPr>
          </a:p>
          <a:p>
            <a:r>
              <a:rPr lang="en-US" sz="3000" b="1" dirty="0">
                <a:solidFill>
                  <a:schemeClr val="bg1"/>
                </a:solidFill>
              </a:rPr>
              <a:t>Turning 5,000 silent trucks into one trusted, real-time picture of the fleet</a:t>
            </a:r>
            <a:endParaRPr lang="ar-EG" sz="3000" b="1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A refrigerated truck loses cooling in a tunnel. The cargo is spoiled before anyone knows.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A truck leaves its route. An engine idles for an hour, burning fuel.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Every truck reports GPS, engine, fuel and temperature, but separately, so no one connects them.</a:t>
            </a:r>
            <a:endParaRPr lang="ar-EG" sz="2800" dirty="0">
              <a:solidFill>
                <a:schemeClr val="bg1"/>
              </a:solidFill>
            </a:endParaRPr>
          </a:p>
          <a:p>
            <a:pPr lvl="0"/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Business Challenge: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Disconnected telemetry makes route deviations, refrigeration breaches and excessive idling hard to investigate.</a:t>
            </a:r>
          </a:p>
        </p:txBody>
      </p:sp>
      <p:pic>
        <p:nvPicPr>
          <p:cNvPr id="7" name="Google Shape;179;p5" descr="Map with a truck route">
            <a:extLst>
              <a:ext uri="{FF2B5EF4-FFF2-40B4-BE49-F238E27FC236}">
                <a16:creationId xmlns:a16="http://schemas.microsoft.com/office/drawing/2014/main" id="{A46D10FA-93EB-C511-EA68-BC57FCB254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300000"/>
            <a:ext cx="2274849" cy="203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5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" name="Google Shape;189;p6"/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190" name="Google Shape;190;p6"/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  <a:endParaRPr sz="2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6"/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193" name="Google Shape;193;p6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6"/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196" name="Google Shape;196;p6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6"/>
          <p:cNvGrpSpPr/>
          <p:nvPr/>
        </p:nvGrpSpPr>
        <p:grpSpPr>
          <a:xfrm>
            <a:off x="2838827" y="6060863"/>
            <a:ext cx="8553420" cy="417167"/>
            <a:chOff x="571500" y="5165783"/>
            <a:chExt cx="5702280" cy="278111"/>
          </a:xfrm>
        </p:grpSpPr>
        <p:sp>
          <p:nvSpPr>
            <p:cNvPr id="199" name="Google Shape;199;p6"/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6"/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202" name="Google Shape;202;p6"/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Results and Insights</a:t>
              </a: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6"/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205" name="Google Shape;205;p6"/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208" name="Google Shape;208;p6"/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6"/>
          <p:cNvGrpSpPr/>
          <p:nvPr/>
        </p:nvGrpSpPr>
        <p:grpSpPr>
          <a:xfrm>
            <a:off x="2838827" y="5404125"/>
            <a:ext cx="8553420" cy="417186"/>
            <a:chOff x="571500" y="5165783"/>
            <a:chExt cx="5702280" cy="278124"/>
          </a:xfrm>
        </p:grpSpPr>
        <p:sp>
          <p:nvSpPr>
            <p:cNvPr id="211" name="Google Shape;211;p6"/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/>
          <p:nvPr/>
        </p:nvSpPr>
        <p:spPr>
          <a:xfrm>
            <a:off x="1575899" y="455587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7"/>
          <p:cNvCxnSpPr/>
          <p:nvPr/>
        </p:nvCxnSpPr>
        <p:spPr>
          <a:xfrm flipH="1">
            <a:off x="1575899" y="2781300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20" name="Google Shape;220;p7" descr="A blue and white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-3109" t="8921" r="56787" b="49015"/>
          <a:stretch/>
        </p:blipFill>
        <p:spPr>
          <a:xfrm>
            <a:off x="8363793" y="-127003"/>
            <a:ext cx="3959850" cy="2755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 txBox="1"/>
          <p:nvPr/>
        </p:nvSpPr>
        <p:spPr>
          <a:xfrm>
            <a:off x="1905000" y="2614326"/>
            <a:ext cx="15742782" cy="5386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Three costly blind spots, one missing picture</a:t>
            </a:r>
          </a:p>
          <a:p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Every truck reports GPS, engine, fuel and temperature, but </a:t>
            </a:r>
            <a:r>
              <a:rPr lang="en-US" sz="2800" b="1" u="sng" dirty="0">
                <a:solidFill>
                  <a:schemeClr val="bg1"/>
                </a:solidFill>
              </a:rPr>
              <a:t>separately</a:t>
            </a:r>
            <a:r>
              <a:rPr lang="en-US" sz="2800" dirty="0">
                <a:solidFill>
                  <a:schemeClr val="bg1"/>
                </a:solidFill>
              </a:rPr>
              <a:t>, so managers cannot connect the dots.</a:t>
            </a:r>
            <a:endParaRPr lang="ar-EG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Our three problems: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Spoiled cargo:</a:t>
            </a:r>
            <a:r>
              <a:rPr lang="en-US" sz="2800" dirty="0">
                <a:solidFill>
                  <a:schemeClr val="bg1"/>
                </a:solidFill>
              </a:rPr>
              <a:t> a refrigeration failure goes unnoticed until the cargo is already lost</a:t>
            </a: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Off-route trucks:</a:t>
            </a:r>
            <a:r>
              <a:rPr lang="en-US" sz="2800" dirty="0">
                <a:solidFill>
                  <a:schemeClr val="bg1"/>
                </a:solidFill>
              </a:rPr>
              <a:t> a truck leaves its planned route and no one sees it in time</a:t>
            </a: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Wasted idling:</a:t>
            </a:r>
            <a:r>
              <a:rPr lang="en-US" sz="2800" dirty="0">
                <a:solidFill>
                  <a:schemeClr val="bg1"/>
                </a:solidFill>
              </a:rPr>
              <a:t> an engine runs for an hour while the truck is stopped, burning fuel</a:t>
            </a:r>
          </a:p>
          <a:p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Fixed routes, temperature-sensitive cargo, thousands of trucks: </a:t>
            </a:r>
            <a:r>
              <a:rPr lang="en-US" sz="2800" b="1" dirty="0">
                <a:solidFill>
                  <a:schemeClr val="bg1"/>
                </a:solidFill>
              </a:rPr>
              <a:t>one late alert costs real money.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F3DA275E-DCDA-A6B8-7EF6-632C4113B8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13150" y="-300000"/>
            <a:ext cx="2274849" cy="203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7D4AA75F-BE57-C2C1-4628-82E17F4A6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5" descr="Map with a truck route">
            <a:extLst>
              <a:ext uri="{FF2B5EF4-FFF2-40B4-BE49-F238E27FC236}">
                <a16:creationId xmlns:a16="http://schemas.microsoft.com/office/drawing/2014/main" id="{62CE94C5-52BA-3802-240B-B1B4A80202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300000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>
            <a:extLst>
              <a:ext uri="{FF2B5EF4-FFF2-40B4-BE49-F238E27FC236}">
                <a16:creationId xmlns:a16="http://schemas.microsoft.com/office/drawing/2014/main" id="{702BDAC3-65D4-FD54-AB35-50E647F3A38B}"/>
              </a:ext>
            </a:extLst>
          </p:cNvPr>
          <p:cNvSpPr/>
          <p:nvPr/>
        </p:nvSpPr>
        <p:spPr>
          <a:xfrm>
            <a:off x="743914" y="560895"/>
            <a:ext cx="12203438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What We Built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6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5">
            <a:extLst>
              <a:ext uri="{FF2B5EF4-FFF2-40B4-BE49-F238E27FC236}">
                <a16:creationId xmlns:a16="http://schemas.microsoft.com/office/drawing/2014/main" id="{328B14C8-AFB2-F839-A036-E9E40D969CE4}"/>
              </a:ext>
            </a:extLst>
          </p:cNvPr>
          <p:cNvCxnSpPr/>
          <p:nvPr/>
        </p:nvCxnSpPr>
        <p:spPr>
          <a:xfrm flipH="1">
            <a:off x="1414617" y="2034980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9860A6F-9B73-E163-A479-BC66306B1EA4}"/>
              </a:ext>
            </a:extLst>
          </p:cNvPr>
          <p:cNvSpPr txBox="1"/>
          <p:nvPr/>
        </p:nvSpPr>
        <p:spPr>
          <a:xfrm>
            <a:off x="5620215" y="10928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D0DB0-2D80-6D64-C16E-D8E24DDA14F2}"/>
              </a:ext>
            </a:extLst>
          </p:cNvPr>
          <p:cNvSpPr txBox="1"/>
          <p:nvPr/>
        </p:nvSpPr>
        <p:spPr>
          <a:xfrm>
            <a:off x="1688433" y="6132926"/>
            <a:ext cx="163384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Project Objective</a:t>
            </a:r>
            <a:r>
              <a:rPr lang="ar-EG" sz="2400" b="1" dirty="0">
                <a:solidFill>
                  <a:schemeClr val="bg1"/>
                </a:solidFill>
              </a:rPr>
              <a:t> :</a:t>
            </a:r>
            <a:r>
              <a:rPr lang="en-US" sz="2400" dirty="0">
                <a:solidFill>
                  <a:schemeClr val="bg1"/>
                </a:solidFill>
              </a:rPr>
              <a:t>A telematics </a:t>
            </a:r>
            <a:r>
              <a:rPr lang="en-US" sz="2400" dirty="0" err="1">
                <a:solidFill>
                  <a:schemeClr val="bg1"/>
                </a:solidFill>
              </a:rPr>
              <a:t>lakehouse</a:t>
            </a:r>
            <a:r>
              <a:rPr lang="en-US" sz="2400" dirty="0">
                <a:solidFill>
                  <a:schemeClr val="bg1"/>
                </a:solidFill>
              </a:rPr>
              <a:t> and dimensional warehouse on Microsoft Fabric that connects the signals, catches the problems, and proves it.</a:t>
            </a:r>
            <a:endParaRPr lang="ar-EG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Scope</a:t>
            </a:r>
            <a:r>
              <a:rPr lang="ar-EG" sz="2400" b="1" dirty="0">
                <a:solidFill>
                  <a:schemeClr val="bg1"/>
                </a:solidFill>
              </a:rPr>
              <a:t> 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Simulate a 5,000-truck fleet and inject 3 anomalies: cold-chain breaches, excessive idling, route deviations.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Ingest, retain raw data, and enrich it with </a:t>
            </a:r>
            <a:r>
              <a:rPr lang="en-US" sz="2400" dirty="0" err="1">
                <a:solidFill>
                  <a:schemeClr val="bg1"/>
                </a:solidFill>
              </a:rPr>
              <a:t>PySpark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Serve route, cold-chain and driver analytics through an orchestrated platform.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A4DF0B-4941-FD38-35FC-45CC22D06B38}"/>
              </a:ext>
            </a:extLst>
          </p:cNvPr>
          <p:cNvSpPr txBox="1"/>
          <p:nvPr/>
        </p:nvSpPr>
        <p:spPr>
          <a:xfrm>
            <a:off x="1688433" y="2014769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One platform. Four signals. Two paths.</a:t>
            </a: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BCFDEA57-DA64-F591-919B-10B5D00C32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60232"/>
              </p:ext>
            </p:extLst>
          </p:nvPr>
        </p:nvGraphicFramePr>
        <p:xfrm>
          <a:off x="1765275" y="2923467"/>
          <a:ext cx="10160716" cy="2449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33291FE3-45A8-1BF9-2F4B-B002E53833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9502083"/>
              </p:ext>
            </p:extLst>
          </p:nvPr>
        </p:nvGraphicFramePr>
        <p:xfrm>
          <a:off x="12277493" y="3393077"/>
          <a:ext cx="3445727" cy="1938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847322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5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8" name="Google Shape;228;p8"/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229" name="Google Shape;229;p8"/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  <a:endParaRPr sz="2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8"/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232" name="Google Shape;232;p8"/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8"/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235" name="Google Shape;235;p8"/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Results and Insights</a:t>
              </a:r>
              <a:endParaRPr/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8"/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238" name="Google Shape;238;p8"/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8"/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241" name="Google Shape;241;p8"/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8"/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244" name="Google Shape;244;p8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8"/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247" name="Google Shape;247;p8"/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8"/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250" name="Google Shape;250;p8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/>
          <p:nvPr/>
        </p:nvSpPr>
        <p:spPr>
          <a:xfrm>
            <a:off x="1289551" y="590354"/>
            <a:ext cx="15964964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r>
              <a:rPr lang="ar-EG" sz="6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600" dirty="0">
                <a:solidFill>
                  <a:schemeClr val="bg1"/>
                </a:solidFill>
              </a:rPr>
              <a:t>—</a:t>
            </a:r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600" dirty="0">
                <a:solidFill>
                  <a:schemeClr val="bg1"/>
                </a:solidFill>
              </a:rPr>
              <a:t>Architecture Overview</a:t>
            </a:r>
            <a:endParaRPr sz="66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9"/>
          <p:cNvCxnSpPr/>
          <p:nvPr/>
        </p:nvCxnSpPr>
        <p:spPr>
          <a:xfrm flipH="1">
            <a:off x="1273801" y="2402159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0" name="Google Shape;260;p9"/>
          <p:cNvSpPr txBox="1"/>
          <p:nvPr/>
        </p:nvSpPr>
        <p:spPr>
          <a:xfrm>
            <a:off x="1787404" y="2017660"/>
            <a:ext cx="18574723" cy="717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1"/>
                </a:solidFill>
              </a:rPr>
              <a:t>Lambda architecture: one stream, two paths</a:t>
            </a:r>
            <a:endParaRPr lang="ar-EG" sz="3200" b="1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The same events travel two paths: a fast path to alert and a slow path to be right.</a:t>
            </a:r>
            <a:endParaRPr lang="ar-EG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Ingest (shared entry point)</a:t>
            </a:r>
            <a:endParaRPr lang="en-US" sz="2800" dirty="0">
              <a:solidFill>
                <a:schemeClr val="bg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5 </a:t>
            </a:r>
            <a:r>
              <a:rPr lang="en-US" sz="2800" dirty="0" err="1">
                <a:solidFill>
                  <a:schemeClr val="bg1"/>
                </a:solidFill>
              </a:rPr>
              <a:t>Eventstreams</a:t>
            </a:r>
            <a:r>
              <a:rPr lang="en-US" sz="2800" dirty="0">
                <a:solidFill>
                  <a:schemeClr val="bg1"/>
                </a:solidFill>
              </a:rPr>
              <a:t>: GPS, engine, fuel, temperature and device status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Every message lands unchanged in </a:t>
            </a:r>
            <a:r>
              <a:rPr lang="en-US" sz="2800" dirty="0" err="1">
                <a:solidFill>
                  <a:schemeClr val="bg1"/>
                </a:solidFill>
              </a:rPr>
              <a:t>Eventhouse</a:t>
            </a:r>
            <a:r>
              <a:rPr lang="en-US" sz="2800" dirty="0">
                <a:solidFill>
                  <a:schemeClr val="bg1"/>
                </a:solidFill>
              </a:rPr>
              <a:t> as raw evidence, including the broken ones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Speed layer (</a:t>
            </a:r>
            <a:r>
              <a:rPr lang="en-US" sz="2800" b="1" dirty="0" err="1">
                <a:solidFill>
                  <a:schemeClr val="bg1"/>
                </a:solidFill>
              </a:rPr>
              <a:t>Eventhouse</a:t>
            </a:r>
            <a:r>
              <a:rPr lang="en-US" sz="2800" b="1" dirty="0">
                <a:solidFill>
                  <a:schemeClr val="bg1"/>
                </a:solidFill>
              </a:rPr>
              <a:t> / KQL)</a:t>
            </a:r>
            <a:endParaRPr lang="en-US" sz="2800" dirty="0">
              <a:solidFill>
                <a:schemeClr val="bg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Update policies parse and validate each message as it arrives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Bad records go to a dead-letter table with the reason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3 detectors: cold-chain breach, excessive idling, route deviation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Output: alerts in near real time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Batch layer (Lakehouse + Fabric Data Pipeline)</a:t>
            </a:r>
            <a:endParaRPr lang="en-US" sz="2800" dirty="0">
              <a:solidFill>
                <a:schemeClr val="bg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 loader notebook copies Bronze from </a:t>
            </a:r>
            <a:r>
              <a:rPr lang="en-US" sz="2800" dirty="0" err="1">
                <a:solidFill>
                  <a:schemeClr val="bg1"/>
                </a:solidFill>
              </a:rPr>
              <a:t>Eventhouse</a:t>
            </a:r>
            <a:r>
              <a:rPr lang="en-US" sz="2800" dirty="0">
                <a:solidFill>
                  <a:schemeClr val="bg1"/>
                </a:solidFill>
              </a:rPr>
              <a:t> into the Lakehouse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Spark job 1: validate, deduplicate, merge into Silver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Spark job 2: build the Gold star schema, KPIs and cost views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Quality gate stops Gold if the data is bad</a:t>
            </a:r>
          </a:p>
        </p:txBody>
      </p:sp>
      <p:pic>
        <p:nvPicPr>
          <p:cNvPr id="4" name="Google Shape;179;p5" descr="Map with a truck route">
            <a:extLst>
              <a:ext uri="{FF2B5EF4-FFF2-40B4-BE49-F238E27FC236}">
                <a16:creationId xmlns:a16="http://schemas.microsoft.com/office/drawing/2014/main" id="{B33E2848-2AD2-5865-E952-DDDDFFA7F5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300000"/>
            <a:ext cx="2274849" cy="203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130EBBA2-6730-3E5A-70B4-044D252F5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>
            <a:extLst>
              <a:ext uri="{FF2B5EF4-FFF2-40B4-BE49-F238E27FC236}">
                <a16:creationId xmlns:a16="http://schemas.microsoft.com/office/drawing/2014/main" id="{9CC18098-1795-92E2-A9FC-BEBE3F63C0E8}"/>
              </a:ext>
            </a:extLst>
          </p:cNvPr>
          <p:cNvSpPr/>
          <p:nvPr/>
        </p:nvSpPr>
        <p:spPr>
          <a:xfrm>
            <a:off x="1526700" y="1035450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96D16FC5-85FE-6281-33AD-C0346CC1A4B4}"/>
              </a:ext>
            </a:extLst>
          </p:cNvPr>
          <p:cNvCxnSpPr/>
          <p:nvPr/>
        </p:nvCxnSpPr>
        <p:spPr>
          <a:xfrm flipH="1">
            <a:off x="1575899" y="2781300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0" name="Google Shape;260;p9">
            <a:extLst>
              <a:ext uri="{FF2B5EF4-FFF2-40B4-BE49-F238E27FC236}">
                <a16:creationId xmlns:a16="http://schemas.microsoft.com/office/drawing/2014/main" id="{18666F86-3A3F-E3F7-99EE-E408DF83E93A}"/>
              </a:ext>
            </a:extLst>
          </p:cNvPr>
          <p:cNvSpPr txBox="1"/>
          <p:nvPr/>
        </p:nvSpPr>
        <p:spPr>
          <a:xfrm>
            <a:off x="2211150" y="2319635"/>
            <a:ext cx="148866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your text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CF2D64-2B33-CE05-9C23-E78E98A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6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A9C154C5-EF36-DAC5-EA55-C7BDF1F1A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>
            <a:extLst>
              <a:ext uri="{FF2B5EF4-FFF2-40B4-BE49-F238E27FC236}">
                <a16:creationId xmlns:a16="http://schemas.microsoft.com/office/drawing/2014/main" id="{69D328A6-5D0C-CC23-7D46-7208A90D8614}"/>
              </a:ext>
            </a:extLst>
          </p:cNvPr>
          <p:cNvSpPr/>
          <p:nvPr/>
        </p:nvSpPr>
        <p:spPr>
          <a:xfrm>
            <a:off x="1325978" y="651636"/>
            <a:ext cx="1186131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6000" dirty="0">
                <a:solidFill>
                  <a:schemeClr val="bg1"/>
                </a:solidFill>
              </a:rPr>
              <a:t>Why We Chose These Designs</a:t>
            </a:r>
            <a:endParaRPr sz="6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EAFFD129-89B3-CCFB-A228-CFE3A76D2604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0" name="Google Shape;260;p9">
            <a:extLst>
              <a:ext uri="{FF2B5EF4-FFF2-40B4-BE49-F238E27FC236}">
                <a16:creationId xmlns:a16="http://schemas.microsoft.com/office/drawing/2014/main" id="{370558C1-05AB-4C2E-7BB1-7F7C69A43E6B}"/>
              </a:ext>
            </a:extLst>
          </p:cNvPr>
          <p:cNvSpPr txBox="1"/>
          <p:nvPr/>
        </p:nvSpPr>
        <p:spPr>
          <a:xfrm>
            <a:off x="1809705" y="1918191"/>
            <a:ext cx="16232967" cy="741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Every key decision was backed by a test</a:t>
            </a:r>
          </a:p>
          <a:p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We did not pick tools by opinion. We tested, measured, and let the results decide.</a:t>
            </a:r>
            <a:endParaRPr lang="ar-EG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</a:rPr>
              <a:t>Decision 1: Bronze moved to </a:t>
            </a:r>
            <a:r>
              <a:rPr lang="en-US" sz="2800" b="1" dirty="0" err="1">
                <a:solidFill>
                  <a:schemeClr val="bg1"/>
                </a:solidFill>
              </a:rPr>
              <a:t>Eventhouse</a:t>
            </a:r>
            <a:endParaRPr lang="en-US" sz="2800" dirty="0">
              <a:solidFill>
                <a:schemeClr val="bg1"/>
              </a:solidFill>
            </a:endParaRP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Test: Lakehouse as the direct destination of the </a:t>
            </a:r>
            <a:r>
              <a:rPr lang="en-US" sz="2800" dirty="0" err="1">
                <a:solidFill>
                  <a:schemeClr val="bg1"/>
                </a:solidFill>
              </a:rPr>
              <a:t>Eventstream</a:t>
            </a:r>
            <a:endParaRPr lang="en-US" sz="2800" dirty="0">
              <a:solidFill>
                <a:schemeClr val="bg1"/>
              </a:solidFill>
            </a:endParaRP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Finding: it silently dropped malformed messages and froze the schema after the first message</a:t>
            </a: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Decision: raw tables in </a:t>
            </a:r>
            <a:r>
              <a:rPr lang="en-US" sz="2800" dirty="0" err="1">
                <a:solidFill>
                  <a:schemeClr val="bg1"/>
                </a:solidFill>
              </a:rPr>
              <a:t>Eventhouse</a:t>
            </a:r>
            <a:r>
              <a:rPr lang="en-US" sz="2800" dirty="0">
                <a:solidFill>
                  <a:schemeClr val="bg1"/>
                </a:solidFill>
              </a:rPr>
              <a:t>, stored as text, so </a:t>
            </a:r>
            <a:r>
              <a:rPr lang="en-US" sz="2800" b="1" dirty="0">
                <a:solidFill>
                  <a:schemeClr val="bg1"/>
                </a:solidFill>
              </a:rPr>
              <a:t>nothing is lost</a:t>
            </a:r>
            <a:endParaRPr lang="ar-EG" sz="2800" b="1" dirty="0">
              <a:solidFill>
                <a:schemeClr val="bg1"/>
              </a:solidFill>
            </a:endParaRPr>
          </a:p>
          <a:p>
            <a:pPr lvl="0"/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</a:rPr>
              <a:t>Decision 2: Pace set by measurement</a:t>
            </a:r>
            <a:endParaRPr lang="en-US" sz="2800" dirty="0">
              <a:solidFill>
                <a:schemeClr val="bg1"/>
              </a:solidFill>
            </a:endParaRP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Load test: sustained 500 </a:t>
            </a:r>
            <a:r>
              <a:rPr lang="en-US" sz="2800" dirty="0" err="1">
                <a:solidFill>
                  <a:schemeClr val="bg1"/>
                </a:solidFill>
              </a:rPr>
              <a:t>msgs</a:t>
            </a:r>
            <a:r>
              <a:rPr lang="en-US" sz="2800" dirty="0">
                <a:solidFill>
                  <a:schemeClr val="bg1"/>
                </a:solidFill>
              </a:rPr>
              <a:t>/s, practical ceiling about 1,000</a:t>
            </a: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The acceleration factor was calculated from that number, not guessed</a:t>
            </a:r>
            <a:endParaRPr lang="ar-EG" sz="2800" dirty="0">
              <a:solidFill>
                <a:schemeClr val="bg1"/>
              </a:solidFill>
            </a:endParaRPr>
          </a:p>
          <a:p>
            <a:pPr lvl="0"/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</a:rPr>
              <a:t>Decision 3: Fabric Data Pipeline over Airflow</a:t>
            </a:r>
            <a:endParaRPr lang="en-US" sz="2800" dirty="0">
              <a:solidFill>
                <a:schemeClr val="bg1"/>
              </a:solidFill>
            </a:endParaRP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Simpler, built into Fabric, with retry, timeout, schedule and quality-gate conditions and no DAG code</a:t>
            </a:r>
          </a:p>
          <a:p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Test first, then decide.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3AF22A68-AB5F-FEC8-4E2C-FED3B16F52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8415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AB1FD5F0-F3E2-6D9C-A108-BC5AD899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>
            <a:extLst>
              <a:ext uri="{FF2B5EF4-FFF2-40B4-BE49-F238E27FC236}">
                <a16:creationId xmlns:a16="http://schemas.microsoft.com/office/drawing/2014/main" id="{F2C0A509-1599-D63B-956A-12C7C23EA466}"/>
              </a:ext>
            </a:extLst>
          </p:cNvPr>
          <p:cNvSpPr/>
          <p:nvPr/>
        </p:nvSpPr>
        <p:spPr>
          <a:xfrm>
            <a:off x="1325978" y="651636"/>
            <a:ext cx="11861316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6000" dirty="0">
                <a:solidFill>
                  <a:schemeClr val="bg1"/>
                </a:solidFill>
              </a:rPr>
              <a:t>Data and the Generator</a:t>
            </a:r>
          </a:p>
          <a:p>
            <a:r>
              <a:rPr lang="en-US" sz="2400" dirty="0">
                <a:solidFill>
                  <a:schemeClr val="bg1"/>
                </a:solidFill>
              </a:rPr>
              <a:t>A simulated world with known answers</a:t>
            </a:r>
          </a:p>
          <a:p>
            <a:pPr lvl="0"/>
            <a:endParaRPr sz="6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50BB9A93-7EB0-625C-F383-5D9089D8007E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4BDDA993-BB0F-E104-ED25-3D0A2BA236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8EA98A-8EF6-7568-B359-40BC56B527EB}"/>
              </a:ext>
            </a:extLst>
          </p:cNvPr>
          <p:cNvSpPr txBox="1"/>
          <p:nvPr/>
        </p:nvSpPr>
        <p:spPr>
          <a:xfrm>
            <a:off x="1672682" y="2043558"/>
            <a:ext cx="16325385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Real fleets do not tell you what went wrong. Our generator does, so we can measure the pipeline.</a:t>
            </a: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1"/>
                </a:solidFill>
              </a:rPr>
              <a:t>Fleet Simulation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Python, seeded: the same seed always gives the same data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5,000 trucks, drivers, routes with 15 to 25 checkpoints, cargo types, trips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4 signals plus device status, all linked by </a:t>
            </a:r>
            <a:r>
              <a:rPr lang="en-US" sz="2800" dirty="0" err="1">
                <a:solidFill>
                  <a:schemeClr val="bg1"/>
                </a:solidFill>
                <a:latin typeface="Arial"/>
              </a:rPr>
              <a:t>trip_id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 rtl="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1"/>
                </a:solidFill>
              </a:rPr>
              <a:t>Injected problems (with ground truth)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5 business anomalies: cold-chain breach, excessive idling, route deviation, late arrival, offline window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17 data-fault types: duplicates, malformed JSON, wrong types, bad timestamps, unit errors, sensor faults and more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Every injection is logged before it is sent</a:t>
            </a:r>
          </a:p>
          <a:p>
            <a:pPr marL="457200" indent="-457200" rtl="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1"/>
                </a:solidFill>
              </a:rPr>
              <a:t>Negative cases on purpose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 short temperature blip, a 3-minute stop, a small GPS wander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These must not raise alerts, so false alarms are tested too</a:t>
            </a:r>
          </a:p>
          <a:p>
            <a:pPr rtl="0">
              <a:buNone/>
            </a:pP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A clean run must raise nothing. An injected run must catch everything.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857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A4982EDF-4A81-8AF2-6E54-CE5C385A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>
            <a:extLst>
              <a:ext uri="{FF2B5EF4-FFF2-40B4-BE49-F238E27FC236}">
                <a16:creationId xmlns:a16="http://schemas.microsoft.com/office/drawing/2014/main" id="{D1211980-FE2E-831F-F671-BDF533B37665}"/>
              </a:ext>
            </a:extLst>
          </p:cNvPr>
          <p:cNvSpPr/>
          <p:nvPr/>
        </p:nvSpPr>
        <p:spPr>
          <a:xfrm>
            <a:off x="1036046" y="399752"/>
            <a:ext cx="11861316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6000" dirty="0">
                <a:solidFill>
                  <a:schemeClr val="bg1"/>
                </a:solidFill>
              </a:rPr>
              <a:t>Medallion + Gold Model</a:t>
            </a:r>
            <a:endParaRPr lang="ar-EG" sz="60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From raw evidence to business-ready tables</a:t>
            </a:r>
            <a:endParaRPr lang="ar-EG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pPr lvl="0"/>
            <a:endParaRPr sz="6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74B083B9-78A1-B98B-EC09-97B126BDFD83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C934B6E9-773E-2FC8-9914-7D457C604A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B39A11-533E-829D-54C9-82F2C911D83D}"/>
              </a:ext>
            </a:extLst>
          </p:cNvPr>
          <p:cNvSpPr txBox="1"/>
          <p:nvPr/>
        </p:nvSpPr>
        <p:spPr>
          <a:xfrm>
            <a:off x="1631660" y="2372717"/>
            <a:ext cx="16481502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Each layer has one job: keep it, clean it, then make it meaningful.</a:t>
            </a:r>
          </a:p>
          <a:p>
            <a:pPr rtl="0">
              <a:buNone/>
            </a:pPr>
            <a:endParaRPr lang="ar-EG" sz="2800" b="1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Bronze: keep everything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Append-only, raw, untouched, including broken messages</a:t>
            </a:r>
            <a:endParaRPr lang="ar-EG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Silver: trust it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Validated, typed, deduplicated (MERGE on </a:t>
            </a:r>
            <a:r>
              <a:rPr lang="en-US" sz="2800" dirty="0" err="1">
                <a:solidFill>
                  <a:schemeClr val="bg1"/>
                </a:solidFill>
                <a:latin typeface="Arial"/>
              </a:rPr>
              <a:t>event_id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Rejected records go to the DLQ with an error code, so nothing is silently lost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Quality gate 1 stops the pipeline if too many records are invalid</a:t>
            </a:r>
            <a:endParaRPr lang="ar-EG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Gold: use it (star schema)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5 dimensions: vehicle, driver, route, cargo, date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3 facts: trip performance, cold chain, alerts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Arial"/>
              </a:rPr>
              <a:t>dim_vehicle</a:t>
            </a:r>
            <a:r>
              <a:rPr lang="en-US" sz="2800" dirty="0">
                <a:solidFill>
                  <a:schemeClr val="bg1"/>
                </a:solidFill>
              </a:rPr>
              <a:t> is SCD Type 2: history is preserved</a:t>
            </a:r>
            <a:br>
              <a:rPr lang="en-US" sz="2800" dirty="0">
                <a:solidFill>
                  <a:schemeClr val="tx1"/>
                </a:solidFill>
              </a:rPr>
            </a:b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Additive measures, correct history, no hidden loss.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1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B9F3B31D-9BA3-A938-07D4-EDE007619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>
            <a:extLst>
              <a:ext uri="{FF2B5EF4-FFF2-40B4-BE49-F238E27FC236}">
                <a16:creationId xmlns:a16="http://schemas.microsoft.com/office/drawing/2014/main" id="{2D5C3B1F-6311-58D2-5CEE-BF60A768F52D}"/>
              </a:ext>
            </a:extLst>
          </p:cNvPr>
          <p:cNvSpPr/>
          <p:nvPr/>
        </p:nvSpPr>
        <p:spPr>
          <a:xfrm>
            <a:off x="1325978" y="737964"/>
            <a:ext cx="12166998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800" dirty="0">
                <a:solidFill>
                  <a:schemeClr val="bg1"/>
                </a:solidFill>
              </a:rPr>
              <a:t>The Gold star schema: 5 dimensions, 3 facts</a:t>
            </a:r>
          </a:p>
          <a:p>
            <a:pPr lvl="0"/>
            <a:endParaRPr sz="6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9E26763F-68D1-B4E3-EB85-6D7A4A179AEC}"/>
              </a:ext>
            </a:extLst>
          </p:cNvPr>
          <p:cNvCxnSpPr/>
          <p:nvPr/>
        </p:nvCxnSpPr>
        <p:spPr>
          <a:xfrm flipH="1">
            <a:off x="1310228" y="2182187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ADC529CC-499F-768A-F124-3A90DD4416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55F8AB-41AE-5AF6-4737-BB222A40C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419" y="2002637"/>
            <a:ext cx="13795130" cy="50093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1F59BC-D0DE-B684-75DC-60A3F724A85C}"/>
              </a:ext>
            </a:extLst>
          </p:cNvPr>
          <p:cNvSpPr txBox="1"/>
          <p:nvPr/>
        </p:nvSpPr>
        <p:spPr>
          <a:xfrm>
            <a:off x="1562051" y="7301925"/>
            <a:ext cx="167259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Three fact tables share five dimensions, so any question about a </a:t>
            </a:r>
            <a:r>
              <a:rPr lang="en-US" sz="2400" b="1" dirty="0">
                <a:solidFill>
                  <a:schemeClr val="bg1"/>
                </a:solidFill>
              </a:rPr>
              <a:t>truck, driver, route, cargo or day</a:t>
            </a:r>
            <a:r>
              <a:rPr lang="en-US" sz="2400" dirty="0">
                <a:solidFill>
                  <a:schemeClr val="bg1"/>
                </a:solidFill>
              </a:rPr>
              <a:t> can be answered from the same model. Facts store </a:t>
            </a:r>
            <a:r>
              <a:rPr lang="en-US" sz="2400" b="1" dirty="0">
                <a:solidFill>
                  <a:schemeClr val="bg1"/>
                </a:solidFill>
              </a:rPr>
              <a:t>additive measures</a:t>
            </a:r>
            <a:r>
              <a:rPr lang="en-US" sz="2400" dirty="0">
                <a:solidFill>
                  <a:schemeClr val="bg1"/>
                </a:solidFill>
              </a:rPr>
              <a:t> (</a:t>
            </a:r>
            <a:r>
              <a:rPr lang="en-US" sz="2400" dirty="0" err="1">
                <a:solidFill>
                  <a:schemeClr val="bg1"/>
                </a:solidFill>
              </a:rPr>
              <a:t>litres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kilometres</a:t>
            </a:r>
            <a:r>
              <a:rPr lang="en-US" sz="2400" dirty="0">
                <a:solidFill>
                  <a:schemeClr val="bg1"/>
                </a:solidFill>
              </a:rPr>
              <a:t>, minutes) and ratios are computed from sums, so route-level fuel efficiency and cold-chain compliance are never an average of averages. </a:t>
            </a:r>
            <a:r>
              <a:rPr lang="en-US" sz="2400" dirty="0" err="1">
                <a:solidFill>
                  <a:schemeClr val="bg1"/>
                </a:solidFill>
                <a:latin typeface="Arial"/>
              </a:rPr>
              <a:t>dim_vehicle</a:t>
            </a:r>
            <a:r>
              <a:rPr lang="en-US" sz="2400" dirty="0">
                <a:solidFill>
                  <a:schemeClr val="bg1"/>
                </a:solidFill>
              </a:rPr>
              <a:t> is </a:t>
            </a:r>
            <a:r>
              <a:rPr lang="en-US" sz="2400" b="1" dirty="0">
                <a:solidFill>
                  <a:schemeClr val="bg1"/>
                </a:solidFill>
              </a:rPr>
              <a:t>SCD Type 2</a:t>
            </a:r>
            <a:r>
              <a:rPr lang="en-US" sz="2400" dirty="0">
                <a:solidFill>
                  <a:schemeClr val="bg1"/>
                </a:solidFill>
              </a:rPr>
              <a:t>: each fact keeps the </a:t>
            </a:r>
            <a:r>
              <a:rPr lang="en-US" sz="2400" dirty="0" err="1">
                <a:solidFill>
                  <a:schemeClr val="bg1"/>
                </a:solidFill>
                <a:latin typeface="Arial"/>
              </a:rPr>
              <a:t>vehicle_key</a:t>
            </a:r>
            <a:r>
              <a:rPr lang="en-US" sz="2400" dirty="0">
                <a:solidFill>
                  <a:schemeClr val="bg1"/>
                </a:solidFill>
              </a:rPr>
              <a:t> valid at the time of the trip, so a retrofit never rewrites past results.</a:t>
            </a:r>
          </a:p>
        </p:txBody>
      </p:sp>
    </p:spTree>
    <p:extLst>
      <p:ext uri="{BB962C8B-B14F-4D97-AF65-F5344CB8AC3E}">
        <p14:creationId xmlns:p14="http://schemas.microsoft.com/office/powerpoint/2010/main" val="2159709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5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7" name="Google Shape;267;p10"/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268" name="Google Shape;268;p10"/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  <a:endParaRPr sz="2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271" name="Google Shape;271;p10"/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10"/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274" name="Google Shape;274;p10"/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Results and Insights</a:t>
              </a: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277" name="Google Shape;277;p10"/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10"/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280" name="Google Shape;280;p10"/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0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10"/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283" name="Google Shape;283;p10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284" name="Google Shape;284;p10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5" name="Google Shape;285;p10"/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286" name="Google Shape;286;p10"/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  <a:endParaRPr dirty="0"/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0"/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289" name="Google Shape;289;p10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46BDD82C-5F76-D203-BF52-8ECDE829D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E7D30B7F-EC31-242B-2D95-14440CE88B69}"/>
              </a:ext>
            </a:extLst>
          </p:cNvPr>
          <p:cNvCxnSpPr/>
          <p:nvPr/>
        </p:nvCxnSpPr>
        <p:spPr>
          <a:xfrm flipH="1">
            <a:off x="1121676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1CC6DBAA-1C4D-3D68-7690-02AE70149E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0333BC-4A52-CB07-0F17-C9F5D42DD28B}"/>
              </a:ext>
            </a:extLst>
          </p:cNvPr>
          <p:cNvSpPr txBox="1"/>
          <p:nvPr/>
        </p:nvSpPr>
        <p:spPr>
          <a:xfrm>
            <a:off x="1185610" y="367070"/>
            <a:ext cx="152735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4800" b="1" dirty="0">
                <a:solidFill>
                  <a:schemeClr val="bg1"/>
                </a:solidFill>
              </a:rPr>
              <a:t>Our Work in 5 Phases</a:t>
            </a:r>
            <a:r>
              <a:rPr lang="ar-EG" sz="4800" b="1" dirty="0">
                <a:solidFill>
                  <a:schemeClr val="bg1"/>
                </a:solidFill>
              </a:rPr>
              <a:t>  </a:t>
            </a:r>
            <a:r>
              <a:rPr lang="ar-EG" sz="4800" dirty="0">
                <a:solidFill>
                  <a:schemeClr val="bg1"/>
                </a:solidFill>
              </a:rPr>
              <a:t>--</a:t>
            </a:r>
            <a:r>
              <a:rPr lang="ar-EG" sz="4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From empty workspace to automated platform</a:t>
            </a:r>
          </a:p>
          <a:p>
            <a:pPr lvl="0"/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D74428-9301-A7B6-DE96-0DCC6DB3514E}"/>
              </a:ext>
            </a:extLst>
          </p:cNvPr>
          <p:cNvSpPr txBox="1"/>
          <p:nvPr/>
        </p:nvSpPr>
        <p:spPr>
          <a:xfrm>
            <a:off x="1828801" y="1883859"/>
            <a:ext cx="15686488" cy="7602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solidFill>
                  <a:schemeClr val="bg1"/>
                </a:solidFill>
              </a:rPr>
              <a:t>Five phases, each with a </a:t>
            </a:r>
            <a:r>
              <a:rPr lang="en-US" sz="2400" b="1" dirty="0">
                <a:solidFill>
                  <a:schemeClr val="bg1"/>
                </a:solidFill>
              </a:rPr>
              <a:t>concrete deliverable</a:t>
            </a:r>
            <a:r>
              <a:rPr lang="en-US" sz="2400" dirty="0">
                <a:solidFill>
                  <a:schemeClr val="bg1"/>
                </a:solidFill>
              </a:rPr>
              <a:t> that the next phase depends on.</a:t>
            </a:r>
            <a:endParaRPr lang="ar-EG" sz="2400" dirty="0">
              <a:solidFill>
                <a:schemeClr val="bg1"/>
              </a:solidFill>
            </a:endParaRPr>
          </a:p>
          <a:p>
            <a:pPr rtl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400" b="1" u="sng" dirty="0">
                <a:solidFill>
                  <a:schemeClr val="bg1"/>
                </a:solidFill>
              </a:rPr>
              <a:t>Phase 1: Foundation</a:t>
            </a:r>
            <a:endParaRPr lang="en-US" sz="2400" u="sng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Fabric workspace, Lakehouse, </a:t>
            </a:r>
            <a:r>
              <a:rPr lang="en-US" sz="2400" dirty="0" err="1">
                <a:solidFill>
                  <a:schemeClr val="bg1"/>
                </a:solidFill>
              </a:rPr>
              <a:t>Eventhouse</a:t>
            </a:r>
            <a:r>
              <a:rPr lang="en-US" sz="2400" dirty="0">
                <a:solidFill>
                  <a:schemeClr val="bg1"/>
                </a:solidFill>
              </a:rPr>
              <a:t>, and a shared validation library (</a:t>
            </a:r>
            <a:r>
              <a:rPr lang="en-US" sz="2400" dirty="0" err="1">
                <a:solidFill>
                  <a:schemeClr val="bg1"/>
                </a:solidFill>
                <a:latin typeface="Arial"/>
              </a:rPr>
              <a:t>fleet_shared</a:t>
            </a:r>
            <a:r>
              <a:rPr lang="en-US" sz="2400" dirty="0">
                <a:solidFill>
                  <a:schemeClr val="bg1"/>
                </a:solidFill>
              </a:rPr>
              <a:t>) used by both paths</a:t>
            </a:r>
            <a:endParaRPr lang="ar-EG" sz="24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400" b="1" u="sng" dirty="0">
                <a:solidFill>
                  <a:schemeClr val="bg1"/>
                </a:solidFill>
              </a:rPr>
              <a:t>Phase 2: Generator</a:t>
            </a:r>
            <a:endParaRPr lang="en-US" sz="2400" u="sng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Reference data, truck simulation, injected anomalies and faults, with a ground-truth log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Tested on a </a:t>
            </a:r>
            <a:r>
              <a:rPr lang="en-US" sz="2400" b="1" dirty="0">
                <a:solidFill>
                  <a:schemeClr val="bg1"/>
                </a:solidFill>
              </a:rPr>
              <a:t>20-truck smoke run</a:t>
            </a:r>
            <a:r>
              <a:rPr lang="en-US" sz="2400" dirty="0">
                <a:solidFill>
                  <a:schemeClr val="bg1"/>
                </a:solidFill>
              </a:rPr>
              <a:t>, then proven at full scale on </a:t>
            </a:r>
            <a:r>
              <a:rPr lang="en-US" sz="2400" b="1" dirty="0">
                <a:solidFill>
                  <a:schemeClr val="bg1"/>
                </a:solidFill>
              </a:rPr>
              <a:t>5,000 trucks</a:t>
            </a:r>
            <a:endParaRPr lang="ar-EG" sz="2400" b="1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400" b="1" u="sng" dirty="0">
                <a:solidFill>
                  <a:schemeClr val="bg1"/>
                </a:solidFill>
              </a:rPr>
              <a:t>Phase 3: Ingestion</a:t>
            </a:r>
            <a:endParaRPr lang="en-US" sz="2400" u="sng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5 </a:t>
            </a:r>
            <a:r>
              <a:rPr lang="en-US" sz="2400" dirty="0" err="1">
                <a:solidFill>
                  <a:schemeClr val="bg1"/>
                </a:solidFill>
              </a:rPr>
              <a:t>Eventstreams</a:t>
            </a:r>
            <a:r>
              <a:rPr lang="en-US" sz="2400" dirty="0">
                <a:solidFill>
                  <a:schemeClr val="bg1"/>
                </a:solidFill>
              </a:rPr>
              <a:t> into raw Bronze tables in </a:t>
            </a:r>
            <a:r>
              <a:rPr lang="en-US" sz="2400" dirty="0" err="1">
                <a:solidFill>
                  <a:schemeClr val="bg1"/>
                </a:solidFill>
              </a:rPr>
              <a:t>Eventhouse</a:t>
            </a:r>
            <a:r>
              <a:rPr lang="en-US" sz="2400" dirty="0">
                <a:solidFill>
                  <a:schemeClr val="bg1"/>
                </a:solidFill>
              </a:rPr>
              <a:t>, then a loader notebook into the Lakehouse</a:t>
            </a:r>
            <a:endParaRPr lang="ar-EG" sz="24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400" b="1" u="sng" dirty="0">
                <a:solidFill>
                  <a:schemeClr val="bg1"/>
                </a:solidFill>
              </a:rPr>
              <a:t>Phase 4: Processing</a:t>
            </a:r>
            <a:endParaRPr lang="en-US" sz="2400" u="sng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Speed: parse, validate, 3 detectors, alerts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Batch: Silver, dead-letter queue, quality Gate 1</a:t>
            </a:r>
            <a:endParaRPr lang="ar-EG" sz="24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400" b="1" u="sng" dirty="0">
                <a:solidFill>
                  <a:schemeClr val="bg1"/>
                </a:solidFill>
              </a:rPr>
              <a:t>Phase 5: Modeling and orchestration</a:t>
            </a:r>
            <a:endParaRPr lang="en-US" sz="2400" u="sng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Gold star schema with SCD Type 2, two automated pipelines, scheduled runs</a:t>
            </a:r>
          </a:p>
          <a:p>
            <a:pPr rtl="0">
              <a:buNone/>
            </a:pP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Every phase was verified before the next one started.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97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824A3D68-6B3B-4F63-C2DE-19FB35B7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9DA56E08-75FC-DDD3-9625-2CA02AD18CE3}"/>
              </a:ext>
            </a:extLst>
          </p:cNvPr>
          <p:cNvCxnSpPr/>
          <p:nvPr/>
        </p:nvCxnSpPr>
        <p:spPr>
          <a:xfrm flipH="1">
            <a:off x="969139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83C3E90C-7058-818A-47D1-E95F11A4D8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DAB840-4C13-A58D-7496-93955DB8EA5F}"/>
              </a:ext>
            </a:extLst>
          </p:cNvPr>
          <p:cNvSpPr txBox="1"/>
          <p:nvPr/>
        </p:nvSpPr>
        <p:spPr>
          <a:xfrm>
            <a:off x="984889" y="567792"/>
            <a:ext cx="14515306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4800" dirty="0">
                <a:solidFill>
                  <a:schemeClr val="bg1"/>
                </a:solidFill>
              </a:rPr>
              <a:t>Hardest Challenges and How We Solved Them</a:t>
            </a:r>
            <a:endParaRPr lang="ar-EG" sz="4800" dirty="0">
              <a:solidFill>
                <a:schemeClr val="bg1"/>
              </a:solidFill>
            </a:endParaRPr>
          </a:p>
          <a:p>
            <a:r>
              <a:rPr lang="en-US" sz="2500" dirty="0">
                <a:solidFill>
                  <a:schemeClr val="bg1"/>
                </a:solidFill>
              </a:rPr>
              <a:t>A pipeline that works once is easy. </a:t>
            </a:r>
            <a:r>
              <a:rPr lang="en-US" sz="2500" b="1" dirty="0">
                <a:solidFill>
                  <a:schemeClr val="bg1"/>
                </a:solidFill>
              </a:rPr>
              <a:t>We made it safe to rerun, safe to fail, and safe to hand over.</a:t>
            </a:r>
            <a:endParaRPr lang="en-US" sz="2500" dirty="0">
              <a:solidFill>
                <a:schemeClr val="bg1"/>
              </a:solidFill>
            </a:endParaRPr>
          </a:p>
          <a:p>
            <a:pPr lvl="0"/>
            <a:endParaRPr lang="en-US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2820DB-9A54-2BB1-110F-3BF9AB89A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373918"/>
              </p:ext>
            </p:extLst>
          </p:nvPr>
        </p:nvGraphicFramePr>
        <p:xfrm>
          <a:off x="1381490" y="2563326"/>
          <a:ext cx="16167884" cy="5694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7838">
                  <a:extLst>
                    <a:ext uri="{9D8B030D-6E8A-4147-A177-3AD203B41FA5}">
                      <a16:colId xmlns:a16="http://schemas.microsoft.com/office/drawing/2014/main" val="1348599116"/>
                    </a:ext>
                  </a:extLst>
                </a:gridCol>
                <a:gridCol w="8160046">
                  <a:extLst>
                    <a:ext uri="{9D8B030D-6E8A-4147-A177-3AD203B41FA5}">
                      <a16:colId xmlns:a16="http://schemas.microsoft.com/office/drawing/2014/main" val="722907951"/>
                    </a:ext>
                  </a:extLst>
                </a:gridCol>
              </a:tblGrid>
              <a:tr h="8955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Our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201058"/>
                  </a:ext>
                </a:extLst>
              </a:tr>
              <a:tr h="1070517">
                <a:tc>
                  <a:txBody>
                    <a:bodyPr/>
                    <a:lstStyle/>
                    <a:p>
                      <a:r>
                        <a:rPr lang="en-US" sz="2400" b="1" dirty="0"/>
                        <a:t>Spark capacity failures</a:t>
                      </a:r>
                      <a:r>
                        <a:rPr lang="en-US" sz="2400" dirty="0"/>
                        <a:t> on the first attempt of two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120-second Wait activities</a:t>
                      </a:r>
                      <a:r>
                        <a:rPr lang="en-US" sz="2400" dirty="0"/>
                        <a:t>: the next run finished with zero failed attempts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851138"/>
                  </a:ext>
                </a:extLst>
              </a:tr>
              <a:tr h="1299028">
                <a:tc>
                  <a:txBody>
                    <a:bodyPr/>
                    <a:lstStyle/>
                    <a:p>
                      <a:r>
                        <a:rPr lang="en-US" sz="2400" b="1" dirty="0"/>
                        <a:t>Dangerous development notebook:</a:t>
                      </a:r>
                      <a:r>
                        <a:rPr lang="en-US" sz="2400" dirty="0"/>
                        <a:t> cells that wipe all Silver tables, reset the watermark and drop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 </a:t>
                      </a:r>
                      <a:r>
                        <a:rPr lang="en-US" sz="2400" b="1" dirty="0"/>
                        <a:t>clean copy with only 14 code cells</a:t>
                      </a:r>
                      <a:r>
                        <a:rPr lang="en-US" sz="2400" dirty="0"/>
                        <a:t>: the real logic, with no deletes and no experiments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85644"/>
                  </a:ext>
                </a:extLst>
              </a:tr>
              <a:tr h="1206721">
                <a:tc>
                  <a:txBody>
                    <a:bodyPr/>
                    <a:lstStyle/>
                    <a:p>
                      <a:r>
                        <a:rPr lang="en-US" sz="2400" b="1" dirty="0"/>
                        <a:t>Gate 1 returned FAIL but the notebook still “succeeded”</a:t>
                      </a:r>
                      <a:r>
                        <a:rPr lang="en-US" sz="2400" dirty="0"/>
                        <a:t>, so Gold would have continued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 </a:t>
                      </a:r>
                      <a:r>
                        <a:rPr lang="en-US" sz="2400" b="1" dirty="0"/>
                        <a:t>If Condition</a:t>
                      </a:r>
                      <a:r>
                        <a:rPr lang="en-US" sz="2400" dirty="0"/>
                        <a:t> reads the exit value and a </a:t>
                      </a:r>
                      <a:r>
                        <a:rPr lang="en-US" sz="2400" b="1" dirty="0"/>
                        <a:t>Fail activity</a:t>
                      </a:r>
                      <a:r>
                        <a:rPr lang="en-US" sz="2400" dirty="0"/>
                        <a:t> stops the pipeline before Gold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019536"/>
                  </a:ext>
                </a:extLst>
              </a:tr>
              <a:tr h="1222700">
                <a:tc>
                  <a:txBody>
                    <a:bodyPr/>
                    <a:lstStyle/>
                    <a:p>
                      <a:r>
                        <a:rPr lang="en-US" sz="2400" b="1" dirty="0"/>
                        <a:t>Reruns could duplicate data</a:t>
                      </a:r>
                      <a:r>
                        <a:rPr lang="en-US" sz="2400" dirty="0"/>
                        <a:t> and corrupt every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Idempotent steps:</a:t>
                      </a:r>
                      <a:r>
                        <a:rPr lang="en-US" sz="2400" dirty="0"/>
                        <a:t> retry guard, MERGE, watermark moved last, overwrite in Gold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0310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959499C-7438-02E8-041F-A2D0760055E6}"/>
              </a:ext>
            </a:extLst>
          </p:cNvPr>
          <p:cNvSpPr txBox="1"/>
          <p:nvPr/>
        </p:nvSpPr>
        <p:spPr>
          <a:xfrm>
            <a:off x="969139" y="8637472"/>
            <a:ext cx="169065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Earlier decision, same spirit: Bronze moved to </a:t>
            </a:r>
            <a:r>
              <a:rPr lang="en-US" sz="2400" dirty="0" err="1">
                <a:solidFill>
                  <a:schemeClr val="bg1"/>
                </a:solidFill>
              </a:rPr>
              <a:t>Eventhouse</a:t>
            </a:r>
            <a:r>
              <a:rPr lang="en-US" sz="2400" dirty="0">
                <a:solidFill>
                  <a:schemeClr val="bg1"/>
                </a:solidFill>
              </a:rPr>
              <a:t> after a test showed the Lakehouse silently dropped broken messages.</a:t>
            </a:r>
          </a:p>
        </p:txBody>
      </p:sp>
    </p:spTree>
    <p:extLst>
      <p:ext uri="{BB962C8B-B14F-4D97-AF65-F5344CB8AC3E}">
        <p14:creationId xmlns:p14="http://schemas.microsoft.com/office/powerpoint/2010/main" val="1167433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B9CC002B-CC0D-4FC5-6FB7-70874501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9E5C5B22-B4D1-CBF4-B9B8-C8D06EB3572C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99728D97-1C4C-E90B-D464-77AF15CDD3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F4E7DE-EC1C-939F-D310-798578454404}"/>
              </a:ext>
            </a:extLst>
          </p:cNvPr>
          <p:cNvSpPr txBox="1"/>
          <p:nvPr/>
        </p:nvSpPr>
        <p:spPr>
          <a:xfrm>
            <a:off x="1341727" y="322465"/>
            <a:ext cx="12247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4800" dirty="0">
                <a:solidFill>
                  <a:schemeClr val="bg1"/>
                </a:solidFill>
              </a:rPr>
              <a:t>Real-Time and Orchestration in Action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9842B-279F-97FA-20D2-AB0FB1901099}"/>
              </a:ext>
            </a:extLst>
          </p:cNvPr>
          <p:cNvSpPr txBox="1"/>
          <p:nvPr/>
        </p:nvSpPr>
        <p:spPr>
          <a:xfrm>
            <a:off x="1828800" y="1958012"/>
            <a:ext cx="15506748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Two pipelines, fully automated</a:t>
            </a:r>
          </a:p>
          <a:p>
            <a:pPr rtl="0">
              <a:buNone/>
            </a:pP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Nothing runs by hand: </a:t>
            </a:r>
            <a:r>
              <a:rPr lang="en-US" sz="2800" b="1" dirty="0">
                <a:solidFill>
                  <a:schemeClr val="bg1"/>
                </a:solidFill>
              </a:rPr>
              <a:t>alerts are written on a schedule, and the batch flow stops itself when quality drops.</a:t>
            </a:r>
            <a:endParaRPr lang="ar-EG" sz="2800" b="1" dirty="0">
              <a:solidFill>
                <a:schemeClr val="bg1"/>
              </a:solidFill>
            </a:endParaRPr>
          </a:p>
          <a:p>
            <a:pPr rtl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1"/>
                </a:solidFill>
              </a:rPr>
              <a:t>Real-time alerts (</a:t>
            </a:r>
            <a:r>
              <a:rPr lang="en-US" sz="2800" b="1" dirty="0" err="1">
                <a:solidFill>
                  <a:schemeClr val="bg1"/>
                </a:solidFill>
                <a:latin typeface="Arial"/>
              </a:rPr>
              <a:t>pl_rt_alert_writer</a:t>
            </a:r>
            <a:r>
              <a:rPr lang="en-US" sz="2800" b="1" dirty="0">
                <a:solidFill>
                  <a:schemeClr val="bg1"/>
                </a:solidFill>
              </a:rPr>
              <a:t>)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3 detectors share one structure: cold-chain breach, idling, route deviation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 scheduled writer appends only </a:t>
            </a:r>
            <a:r>
              <a:rPr lang="en-US" sz="2800" b="1" dirty="0">
                <a:solidFill>
                  <a:schemeClr val="bg1"/>
                </a:solidFill>
              </a:rPr>
              <a:t>new</a:t>
            </a:r>
            <a:r>
              <a:rPr lang="en-US" sz="2800" dirty="0">
                <a:solidFill>
                  <a:schemeClr val="bg1"/>
                </a:solidFill>
              </a:rPr>
              <a:t> alerts (no duplicates), with a 3-minute timeout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Parity check: </a:t>
            </a:r>
            <a:r>
              <a:rPr lang="en-US" sz="2800" b="1" dirty="0">
                <a:solidFill>
                  <a:schemeClr val="bg1"/>
                </a:solidFill>
              </a:rPr>
              <a:t>raw rows = parsed rows + rejected rows</a:t>
            </a:r>
            <a:endParaRPr lang="ar-EG" sz="2800" b="1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1"/>
                </a:solidFill>
              </a:rPr>
              <a:t>Batch flow (</a:t>
            </a:r>
            <a:r>
              <a:rPr lang="en-US" sz="2800" b="1" dirty="0" err="1">
                <a:solidFill>
                  <a:schemeClr val="bg1"/>
                </a:solidFill>
                <a:latin typeface="Arial"/>
              </a:rPr>
              <a:t>pl_fleet_batch</a:t>
            </a:r>
            <a:r>
              <a:rPr lang="en-US" sz="2800" b="1" dirty="0">
                <a:solidFill>
                  <a:schemeClr val="bg1"/>
                </a:solidFill>
              </a:rPr>
              <a:t>), runs twice a day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Bronze load → Silver setup → Spark job 1 → </a:t>
            </a:r>
            <a:r>
              <a:rPr lang="en-US" sz="2800" b="1" dirty="0">
                <a:solidFill>
                  <a:schemeClr val="bg1"/>
                </a:solidFill>
              </a:rPr>
              <a:t>Gate 1</a:t>
            </a:r>
            <a:r>
              <a:rPr lang="en-US" sz="2800" dirty="0">
                <a:solidFill>
                  <a:schemeClr val="bg1"/>
                </a:solidFill>
              </a:rPr>
              <a:t> → alerts load → Gold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Retry on every step, a stop before Gold if the gate fails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Full run: about </a:t>
            </a:r>
            <a:r>
              <a:rPr lang="en-US" sz="2800" b="1" dirty="0">
                <a:solidFill>
                  <a:schemeClr val="bg1"/>
                </a:solidFill>
              </a:rPr>
              <a:t>14 minutes</a:t>
            </a:r>
            <a:r>
              <a:rPr lang="en-US" sz="2800" dirty="0">
                <a:solidFill>
                  <a:schemeClr val="bg1"/>
                </a:solidFill>
              </a:rPr>
              <a:t>, no failed attempts</a:t>
            </a:r>
          </a:p>
          <a:p>
            <a:pPr rtl="0">
              <a:buNone/>
            </a:pP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Detect fast. Verify later. Automate both.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817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AD07C5D1-FAFC-026D-D001-3DE3EC583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11C09B92-5FBD-765B-27FE-85FA8ACEFF1A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49EA3972-59AF-36BE-DDD5-BD7128C096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4A02A7-92C3-1B0D-92F3-B2660F5D98CE}"/>
              </a:ext>
            </a:extLst>
          </p:cNvPr>
          <p:cNvSpPr txBox="1"/>
          <p:nvPr/>
        </p:nvSpPr>
        <p:spPr>
          <a:xfrm>
            <a:off x="1341727" y="322465"/>
            <a:ext cx="12247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4800" dirty="0">
                <a:solidFill>
                  <a:schemeClr val="bg1"/>
                </a:solidFill>
              </a:rPr>
              <a:t>Real-Time and Orchestration in Action</a:t>
            </a:r>
            <a:endParaRPr lang="en-US" sz="48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D773A5-B69A-385E-C6DA-0E9CD8041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25" y="1753627"/>
            <a:ext cx="17181549" cy="81504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7D01B0-D3F9-1CC5-F6E2-05591B70C20B}"/>
              </a:ext>
            </a:extLst>
          </p:cNvPr>
          <p:cNvSpPr txBox="1"/>
          <p:nvPr/>
        </p:nvSpPr>
        <p:spPr>
          <a:xfrm>
            <a:off x="553225" y="1230407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Batch flow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731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7F92BB6E-F0DF-CB1E-8206-4EFC0252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897A52EC-F13C-DAF2-4768-B06FBAE4CAFD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46C6157E-A44E-BFCF-FA3F-8BC226D870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AA1ADD-1230-8446-3D4C-D2A9DB9B3749}"/>
              </a:ext>
            </a:extLst>
          </p:cNvPr>
          <p:cNvSpPr txBox="1"/>
          <p:nvPr/>
        </p:nvSpPr>
        <p:spPr>
          <a:xfrm>
            <a:off x="1341727" y="322465"/>
            <a:ext cx="12247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4800" dirty="0">
                <a:solidFill>
                  <a:schemeClr val="bg1"/>
                </a:solidFill>
              </a:rPr>
              <a:t>Real-Time and Orchestration in Action</a:t>
            </a:r>
            <a:endParaRPr lang="en-US" sz="48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92207-FCE4-1D94-CE7E-518CFE619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2714625"/>
            <a:ext cx="15240000" cy="4857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3FF412-54DC-3DD9-5536-4C5D7718B75D}"/>
              </a:ext>
            </a:extLst>
          </p:cNvPr>
          <p:cNvSpPr txBox="1"/>
          <p:nvPr/>
        </p:nvSpPr>
        <p:spPr>
          <a:xfrm>
            <a:off x="1524000" y="1972516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Real-time alerts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00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B7E05E59-AB8A-E794-FF69-B124674D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42A1E8C7-094B-58E1-C8ED-4643B951AE66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E67DE70B-D916-A759-36AC-865F27A240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D468E5-226E-E0EB-9293-958369E35A4A}"/>
              </a:ext>
            </a:extLst>
          </p:cNvPr>
          <p:cNvSpPr txBox="1"/>
          <p:nvPr/>
        </p:nvSpPr>
        <p:spPr>
          <a:xfrm>
            <a:off x="1341727" y="322465"/>
            <a:ext cx="122470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Data Integrity Check: No Missing Rows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F029E9-E998-441A-FDC1-4623280C2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041" y="3115707"/>
            <a:ext cx="11901418" cy="34412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FB904F-97FD-0695-D91B-3DA1C861E544}"/>
              </a:ext>
            </a:extLst>
          </p:cNvPr>
          <p:cNvSpPr txBox="1"/>
          <p:nvPr/>
        </p:nvSpPr>
        <p:spPr>
          <a:xfrm>
            <a:off x="1025912" y="1746103"/>
            <a:ext cx="157520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bg1"/>
                </a:solidFill>
              </a:rPr>
              <a:t>Key finding:</a:t>
            </a:r>
            <a:r>
              <a:rPr lang="en-US" sz="3200" dirty="0">
                <a:solidFill>
                  <a:schemeClr val="bg1"/>
                </a:solidFill>
              </a:rPr>
              <a:t> Every raw message was accounted for as either parsed or rejected.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6E1533-D5E0-175B-8CC2-25582ECC1546}"/>
              </a:ext>
            </a:extLst>
          </p:cNvPr>
          <p:cNvSpPr txBox="1"/>
          <p:nvPr/>
        </p:nvSpPr>
        <p:spPr>
          <a:xfrm>
            <a:off x="1325978" y="7756116"/>
            <a:ext cx="165038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bg1"/>
                </a:solidFill>
              </a:rPr>
              <a:t>Validation rule: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Arial"/>
              </a:rPr>
              <a:t>Raw Rows = Parsed Rows + Rejected Rows</a:t>
            </a:r>
            <a:endParaRPr lang="en-US" sz="3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3200" b="1" dirty="0">
                <a:solidFill>
                  <a:schemeClr val="bg1"/>
                </a:solidFill>
              </a:rPr>
              <a:t>Result:</a:t>
            </a:r>
            <a:r>
              <a:rPr lang="en-US" sz="3200" dirty="0">
                <a:solidFill>
                  <a:schemeClr val="bg1"/>
                </a:solidFill>
              </a:rPr>
              <a:t> All four signals passed the row-count reconciliation check, with zero difference.</a:t>
            </a:r>
          </a:p>
        </p:txBody>
      </p:sp>
    </p:spTree>
    <p:extLst>
      <p:ext uri="{BB962C8B-B14F-4D97-AF65-F5344CB8AC3E}">
        <p14:creationId xmlns:p14="http://schemas.microsoft.com/office/powerpoint/2010/main" val="4175100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5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16"/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43" name="Google Shape;343;p16"/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  <a:endParaRPr sz="2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6"/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16"/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346" name="Google Shape;346;p16"/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6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16"/>
          <p:cNvGrpSpPr/>
          <p:nvPr/>
        </p:nvGrpSpPr>
        <p:grpSpPr>
          <a:xfrm>
            <a:off x="2819400" y="6033581"/>
            <a:ext cx="8402340" cy="415497"/>
            <a:chOff x="581660" y="4797006"/>
            <a:chExt cx="5601560" cy="276998"/>
          </a:xfrm>
        </p:grpSpPr>
        <p:sp>
          <p:nvSpPr>
            <p:cNvPr id="349" name="Google Shape;349;p16"/>
            <p:cNvSpPr/>
            <p:nvPr/>
          </p:nvSpPr>
          <p:spPr>
            <a:xfrm>
              <a:off x="663820" y="4797006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Key Tasks </a:t>
              </a: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>
              <a:off x="581660" y="4822004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16"/>
          <p:cNvGrpSpPr/>
          <p:nvPr/>
        </p:nvGrpSpPr>
        <p:grpSpPr>
          <a:xfrm>
            <a:off x="2805480" y="7535115"/>
            <a:ext cx="8553420" cy="417183"/>
            <a:chOff x="571500" y="5165783"/>
            <a:chExt cx="5702280" cy="278122"/>
          </a:xfrm>
        </p:grpSpPr>
        <p:sp>
          <p:nvSpPr>
            <p:cNvPr id="352" name="Google Shape;352;p16"/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6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16"/>
          <p:cNvGrpSpPr/>
          <p:nvPr/>
        </p:nvGrpSpPr>
        <p:grpSpPr>
          <a:xfrm>
            <a:off x="2819400" y="8071724"/>
            <a:ext cx="8522941" cy="415499"/>
            <a:chOff x="571500" y="5294153"/>
            <a:chExt cx="5669009" cy="276999"/>
          </a:xfrm>
        </p:grpSpPr>
        <p:sp>
          <p:nvSpPr>
            <p:cNvPr id="355" name="Google Shape;355;p16"/>
            <p:cNvSpPr/>
            <p:nvPr/>
          </p:nvSpPr>
          <p:spPr>
            <a:xfrm>
              <a:off x="721109" y="5294153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6"/>
            <p:cNvSpPr/>
            <p:nvPr/>
          </p:nvSpPr>
          <p:spPr>
            <a:xfrm>
              <a:off x="571500" y="529415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16"/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358" name="Google Shape;358;p16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16"/>
          <p:cNvGrpSpPr/>
          <p:nvPr/>
        </p:nvGrpSpPr>
        <p:grpSpPr>
          <a:xfrm>
            <a:off x="2819400" y="6841438"/>
            <a:ext cx="8443197" cy="426417"/>
            <a:chOff x="553500" y="5064683"/>
            <a:chExt cx="5628798" cy="284278"/>
          </a:xfrm>
        </p:grpSpPr>
        <p:sp>
          <p:nvSpPr>
            <p:cNvPr id="361" name="Google Shape;361;p16"/>
            <p:cNvSpPr/>
            <p:nvPr/>
          </p:nvSpPr>
          <p:spPr>
            <a:xfrm>
              <a:off x="662898" y="5064683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Results and insights</a:t>
              </a: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>
              <a:off x="553500" y="5096961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16"/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364" name="Google Shape;364;p16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6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AB20EFCA-18F5-8E4E-C981-27B3045BE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1AA972D4-9AAB-F7A4-BCD1-DEAB1BBE04CC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E8B78F32-CD32-EE89-BFB7-F7A6DD18D1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503837-4D15-5ABC-10C7-E34C85C9C84C}"/>
              </a:ext>
            </a:extLst>
          </p:cNvPr>
          <p:cNvSpPr txBox="1"/>
          <p:nvPr/>
        </p:nvSpPr>
        <p:spPr>
          <a:xfrm>
            <a:off x="1058349" y="415464"/>
            <a:ext cx="1224701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From simulated events to verifiable results</a:t>
            </a:r>
          </a:p>
          <a:p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2967B-8BDE-CCC0-754B-05073118FA42}"/>
              </a:ext>
            </a:extLst>
          </p:cNvPr>
          <p:cNvSpPr txBox="1"/>
          <p:nvPr/>
        </p:nvSpPr>
        <p:spPr>
          <a:xfrm>
            <a:off x="1583473" y="1753627"/>
            <a:ext cx="16465752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bg1"/>
                </a:solidFill>
              </a:rPr>
              <a:t>We designed controlled tests with known outcomes to evaluate data quality, anomaly detection, and pipeline reliability.</a:t>
            </a:r>
          </a:p>
          <a:p>
            <a:pPr>
              <a:buNone/>
            </a:pPr>
            <a:endParaRPr lang="ar-EG" sz="24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Controlled Simulation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Simulated fleet activity with predefined business scenarios.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Injected realistic data faults and operational anomalies.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Maintained ground-truth records to support validation.</a:t>
            </a:r>
          </a:p>
          <a:p>
            <a:pPr>
              <a:buNone/>
            </a:pPr>
            <a:endParaRPr lang="ar-EG" sz="24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Data Quality &amp; Integrity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Validated incoming messages before processing.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Separated rejected records and recorded their error reasons.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Reconciled raw, parsed, and rejected records to identify unexplained gaps.</a:t>
            </a:r>
          </a:p>
          <a:p>
            <a:pPr>
              <a:buNone/>
            </a:pPr>
            <a:endParaRPr lang="ar-EG" sz="24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Pipeline Validation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Tested the processing flow against controlled scenarios.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Checked that alerts correspond to detected events.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Used quality gates to prevent unacceptable data from progressing to Gold.</a:t>
            </a:r>
          </a:p>
          <a:p>
            <a:pPr>
              <a:buNone/>
            </a:pP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Designed to detect anomalies, preserve data integrity, and deliver trusted analytics.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588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A920AD58-B6EA-41B0-76DF-6A7523DE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9D0A27EA-1489-FFD9-93A6-DCEFBB5110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1DBC1A-6315-AFAE-620F-0B0DA43589AC}"/>
              </a:ext>
            </a:extLst>
          </p:cNvPr>
          <p:cNvSpPr txBox="1"/>
          <p:nvPr/>
        </p:nvSpPr>
        <p:spPr>
          <a:xfrm>
            <a:off x="694956" y="247146"/>
            <a:ext cx="122470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Live Fleet Monitoring</a:t>
            </a:r>
            <a:endParaRPr lang="ar-EG" sz="48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What an operator sees right now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E8D56C-3FB1-5F06-1F7E-F7ED9C7E6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680870"/>
            <a:ext cx="16054175" cy="59234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443AA7-2E7E-6580-FB03-BADBA20B29BB}"/>
              </a:ext>
            </a:extLst>
          </p:cNvPr>
          <p:cNvSpPr txBox="1"/>
          <p:nvPr/>
        </p:nvSpPr>
        <p:spPr>
          <a:xfrm>
            <a:off x="914400" y="7931717"/>
            <a:ext cx="173160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000" dirty="0">
                <a:solidFill>
                  <a:schemeClr val="bg1"/>
                </a:solidFill>
              </a:rPr>
              <a:t>Open and critical alerts, alerts per minute by type, the vehicles with the most alerts, and the latest positions on a map. </a:t>
            </a:r>
            <a:r>
              <a:rPr lang="en-US" sz="2000" b="1" dirty="0">
                <a:solidFill>
                  <a:schemeClr val="bg1"/>
                </a:solidFill>
              </a:rPr>
              <a:t>It reads only small alert tables, so it stays fast.</a:t>
            </a:r>
            <a:endParaRPr lang="en-US" sz="20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Critical alerts</a:t>
            </a:r>
            <a:r>
              <a:rPr lang="en-US" sz="2000" dirty="0">
                <a:solidFill>
                  <a:schemeClr val="bg1"/>
                </a:solidFill>
              </a:rPr>
              <a:t> are separated from warnings, so cold-chain breaches stand out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Latest alerts table</a:t>
            </a:r>
            <a:r>
              <a:rPr lang="en-US" sz="2000" dirty="0">
                <a:solidFill>
                  <a:schemeClr val="bg1"/>
                </a:solidFill>
              </a:rPr>
              <a:t> shows the reason in plain text (for example “Engine on and truck stopped for 20 minutes”)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Map</a:t>
            </a:r>
            <a:r>
              <a:rPr lang="en-US" sz="2000" dirty="0">
                <a:solidFill>
                  <a:schemeClr val="bg1"/>
                </a:solidFill>
              </a:rPr>
              <a:t> shows where the affected trucks are</a:t>
            </a:r>
          </a:p>
        </p:txBody>
      </p:sp>
    </p:spTree>
    <p:extLst>
      <p:ext uri="{BB962C8B-B14F-4D97-AF65-F5344CB8AC3E}">
        <p14:creationId xmlns:p14="http://schemas.microsoft.com/office/powerpoint/2010/main" val="3234669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1F3D6726-37A2-AED1-4B03-726FF9F59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64307954-6635-D464-388A-66505283A7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FB6345-07B7-D57C-31EB-98F2EF5E716E}"/>
              </a:ext>
            </a:extLst>
          </p:cNvPr>
          <p:cNvSpPr txBox="1"/>
          <p:nvPr/>
        </p:nvSpPr>
        <p:spPr>
          <a:xfrm>
            <a:off x="628049" y="353243"/>
            <a:ext cx="1224701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Data Quality and Health</a:t>
            </a:r>
            <a:endParaRPr lang="ar-EG" sz="44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 dashboard also watches the data itself</a:t>
            </a:r>
          </a:p>
          <a:p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50A8D0-0D3A-9245-D732-BD50EAE38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12" y="1571089"/>
            <a:ext cx="15068550" cy="5553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167FF7-BD3B-3312-4EDE-4BD18ED2079D}"/>
              </a:ext>
            </a:extLst>
          </p:cNvPr>
          <p:cNvSpPr txBox="1"/>
          <p:nvPr/>
        </p:nvSpPr>
        <p:spPr>
          <a:xfrm>
            <a:off x="1048212" y="7295568"/>
            <a:ext cx="169944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000" dirty="0">
                <a:solidFill>
                  <a:schemeClr val="bg1"/>
                </a:solidFill>
              </a:rPr>
              <a:t>Invalid rate </a:t>
            </a:r>
            <a:r>
              <a:rPr lang="en-US" sz="2000" b="1" dirty="0">
                <a:solidFill>
                  <a:schemeClr val="bg1"/>
                </a:solidFill>
              </a:rPr>
              <a:t>0.88%</a:t>
            </a:r>
            <a:r>
              <a:rPr lang="en-US" sz="2000" dirty="0">
                <a:solidFill>
                  <a:schemeClr val="bg1"/>
                </a:solidFill>
              </a:rPr>
              <a:t>, below the 2% alert threshold and the 5% quality-gate limit. The rejected rows by error code are </a:t>
            </a:r>
            <a:r>
              <a:rPr lang="en-US" sz="2000" b="1" dirty="0">
                <a:solidFill>
                  <a:schemeClr val="bg1"/>
                </a:solidFill>
              </a:rPr>
              <a:t>the same faults our generator injected.</a:t>
            </a:r>
            <a:endParaRPr lang="en-US" sz="20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Three call-outs:</a:t>
            </a:r>
            <a:endParaRPr lang="en-US" sz="20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0.88% invalid rate:</a:t>
            </a:r>
            <a:r>
              <a:rPr lang="en-US" sz="2000" dirty="0">
                <a:solidFill>
                  <a:schemeClr val="bg1"/>
                </a:solidFill>
              </a:rPr>
              <a:t> matches the ~1% we designed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Error codes:</a:t>
            </a:r>
            <a:r>
              <a:rPr lang="en-US" sz="2000" dirty="0">
                <a:solidFill>
                  <a:schemeClr val="bg1"/>
                </a:solidFill>
              </a:rPr>
              <a:t> TYPE_MISMATCH, PARSE_ERROR, MISSING_REQUIRED_FIELD, INVALID_TIMESTAMP, OUT_OF_RANGE and more, each traced to an injection type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Throughput by signal: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gps</a:t>
            </a:r>
            <a:r>
              <a:rPr lang="en-US" sz="2000" dirty="0">
                <a:solidFill>
                  <a:schemeClr val="bg1"/>
                </a:solidFill>
              </a:rPr>
              <a:t>, engine, fuel and temperature, with fuel and temperature lower by design</a:t>
            </a:r>
          </a:p>
        </p:txBody>
      </p:sp>
    </p:spTree>
    <p:extLst>
      <p:ext uri="{BB962C8B-B14F-4D97-AF65-F5344CB8AC3E}">
        <p14:creationId xmlns:p14="http://schemas.microsoft.com/office/powerpoint/2010/main" val="2666380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7BA4CB70-7E8F-658A-B2E8-C51B42CF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47FD6B0B-4F63-BA16-A7C6-18A2D2D220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33BF8A-388F-6DD7-9C1F-DD75DB053E5C}"/>
              </a:ext>
            </a:extLst>
          </p:cNvPr>
          <p:cNvSpPr txBox="1"/>
          <p:nvPr/>
        </p:nvSpPr>
        <p:spPr>
          <a:xfrm>
            <a:off x="628049" y="353243"/>
            <a:ext cx="1224701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Batch Dashboard (1/2): Cold Chain and Alerts</a:t>
            </a:r>
          </a:p>
          <a:p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60A19-3E88-28DA-B895-D09209D06C6C}"/>
              </a:ext>
            </a:extLst>
          </p:cNvPr>
          <p:cNvSpPr txBox="1"/>
          <p:nvPr/>
        </p:nvSpPr>
        <p:spPr>
          <a:xfrm>
            <a:off x="1092817" y="1318514"/>
            <a:ext cx="169944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blind spots, now visible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 same Gold model that stores additive measures now answers what was lost, and where.</a:t>
            </a:r>
          </a:p>
          <a:p>
            <a:pPr rtl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195F08-6FA8-790A-53E9-DA667B938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829" y="2703509"/>
            <a:ext cx="15314342" cy="665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95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61EF4166-7FDF-4C9D-C81D-8A4F12F74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D2DBCC64-2E3C-AF25-03EE-596219065C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C046EC-F3E6-6ED3-69ED-81A530A5E267}"/>
              </a:ext>
            </a:extLst>
          </p:cNvPr>
          <p:cNvSpPr txBox="1"/>
          <p:nvPr/>
        </p:nvSpPr>
        <p:spPr>
          <a:xfrm>
            <a:off x="628049" y="353243"/>
            <a:ext cx="1224701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Batch Dashboard (1/2): Cold Chain and Alerts</a:t>
            </a:r>
          </a:p>
          <a:p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8D5DC-4EB8-E37B-6DE8-A6491126F302}"/>
              </a:ext>
            </a:extLst>
          </p:cNvPr>
          <p:cNvSpPr txBox="1"/>
          <p:nvPr/>
        </p:nvSpPr>
        <p:spPr>
          <a:xfrm>
            <a:off x="1092817" y="1318514"/>
            <a:ext cx="169944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blind spots, now visible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 same Gold model that stores additive measures now answers what was lost, and where.</a:t>
            </a:r>
          </a:p>
          <a:p>
            <a:pPr rtl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218343-A632-CB34-18EF-1C0933E0D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6682" y="2419349"/>
            <a:ext cx="12459629" cy="695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7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6CAFE944-15D7-E92C-5807-E4730627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06A0C7FD-0A2D-6DDF-62FF-7214CA348E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B12802-5B6E-8A29-B5C4-B945C12C8236}"/>
              </a:ext>
            </a:extLst>
          </p:cNvPr>
          <p:cNvSpPr txBox="1"/>
          <p:nvPr/>
        </p:nvSpPr>
        <p:spPr>
          <a:xfrm>
            <a:off x="628049" y="353243"/>
            <a:ext cx="122470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Batch Dashboard (2/2): Fuel and Drivers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FCD826-0E7C-B2F5-7BC2-2367BF08C80A}"/>
              </a:ext>
            </a:extLst>
          </p:cNvPr>
          <p:cNvSpPr txBox="1"/>
          <p:nvPr/>
        </p:nvSpPr>
        <p:spPr>
          <a:xfrm>
            <a:off x="1092817" y="1318514"/>
            <a:ext cx="169944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Efficiency and coaching from the same model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Fuel efficiency is total fuel ÷ total distance, never an average of trip averages.</a:t>
            </a:r>
          </a:p>
          <a:p>
            <a:pPr rtl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073EF4-CE34-943E-6DD8-5C32F5640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723" y="2841681"/>
            <a:ext cx="8750873" cy="48881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DD9858-55D0-73B8-0B68-97F633DA9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5683" y="2841681"/>
            <a:ext cx="8951594" cy="500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2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C9EABF2B-1A37-E5EB-BC2B-CB7E45374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BE7D1587-3A12-A61A-D977-77DE7DBE3519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12A7E9A9-002B-3197-BB52-1855BA65BE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BD96FE-96B3-01A0-4956-48FBD00F448A}"/>
              </a:ext>
            </a:extLst>
          </p:cNvPr>
          <p:cNvSpPr txBox="1"/>
          <p:nvPr/>
        </p:nvSpPr>
        <p:spPr>
          <a:xfrm>
            <a:off x="1341727" y="322465"/>
            <a:ext cx="12247011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Dashboard Insights</a:t>
            </a:r>
            <a:endParaRPr lang="ar-EG" sz="6000" dirty="0">
              <a:solidFill>
                <a:schemeClr val="bg1"/>
              </a:solidFill>
            </a:endParaRPr>
          </a:p>
          <a:p>
            <a:r>
              <a:rPr lang="en-US" sz="4400" dirty="0">
                <a:solidFill>
                  <a:schemeClr val="bg1"/>
                </a:solidFill>
              </a:rPr>
              <a:t>What the dashboards tell us</a:t>
            </a:r>
          </a:p>
          <a:p>
            <a:r>
              <a:rPr lang="en-US" sz="6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5D9FD1-E8E7-103A-D35D-DC263FC4B520}"/>
              </a:ext>
            </a:extLst>
          </p:cNvPr>
          <p:cNvSpPr txBox="1"/>
          <p:nvPr/>
        </p:nvSpPr>
        <p:spPr>
          <a:xfrm>
            <a:off x="1609357" y="2359622"/>
            <a:ext cx="1600527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Two dashboards, one story: </a:t>
            </a:r>
            <a:r>
              <a:rPr lang="en-US" sz="2800" b="1" dirty="0">
                <a:solidFill>
                  <a:schemeClr val="bg1"/>
                </a:solidFill>
              </a:rPr>
              <a:t>the problems we planted are now visible, measured and traceable.</a:t>
            </a:r>
            <a:endParaRPr lang="en-US" sz="2800" dirty="0">
              <a:solidFill>
                <a:schemeClr val="bg1"/>
              </a:solidFill>
            </a:endParaRPr>
          </a:p>
          <a:p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Across both paths, the platform turns raw signals into answers. The live dashboard shows alerts as they appear, split into critical cold-chain breaches and warnings for idling and route deviation. The data-quality dashboard shows an invalid rate of </a:t>
            </a:r>
            <a:r>
              <a:rPr lang="en-US" sz="2800" b="1" dirty="0">
                <a:solidFill>
                  <a:schemeClr val="bg1"/>
                </a:solidFill>
              </a:rPr>
              <a:t>0.88%</a:t>
            </a:r>
            <a:r>
              <a:rPr lang="en-US" sz="2800" dirty="0">
                <a:solidFill>
                  <a:schemeClr val="bg1"/>
                </a:solidFill>
              </a:rPr>
              <a:t>, and every rejected record carries the error code of a fault we injected. The batch dashboard then adds the business view: </a:t>
            </a:r>
            <a:r>
              <a:rPr lang="en-US" sz="2800" b="1" dirty="0">
                <a:solidFill>
                  <a:schemeClr val="bg1"/>
                </a:solidFill>
              </a:rPr>
              <a:t>91% cold-chain compliance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b="1" dirty="0">
                <a:solidFill>
                  <a:schemeClr val="bg1"/>
                </a:solidFill>
              </a:rPr>
              <a:t>6 trips with a breach</a:t>
            </a:r>
            <a:r>
              <a:rPr lang="en-US" sz="2800" dirty="0">
                <a:solidFill>
                  <a:schemeClr val="bg1"/>
                </a:solidFill>
              </a:rPr>
              <a:t>, and </a:t>
            </a:r>
            <a:r>
              <a:rPr lang="en-US" sz="2800" b="1" dirty="0">
                <a:solidFill>
                  <a:schemeClr val="bg1"/>
                </a:solidFill>
              </a:rPr>
              <a:t>248.5K EGP of cargo at risk</a:t>
            </a:r>
            <a:r>
              <a:rPr lang="en-US" sz="2800" dirty="0">
                <a:solidFill>
                  <a:schemeClr val="bg1"/>
                </a:solidFill>
              </a:rPr>
              <a:t>, with the risk concentrated on one route. Fuel efficiency of </a:t>
            </a:r>
            <a:r>
              <a:rPr lang="en-US" sz="2800" b="1" dirty="0">
                <a:solidFill>
                  <a:schemeClr val="bg1"/>
                </a:solidFill>
              </a:rPr>
              <a:t>28.14 L per 100 km</a:t>
            </a:r>
            <a:r>
              <a:rPr lang="en-US" sz="2800" dirty="0">
                <a:solidFill>
                  <a:schemeClr val="bg1"/>
                </a:solidFill>
              </a:rPr>
              <a:t> matches the burn rate configured in the generator, which shows the pipeline recovers the truth it was given. Finally, the driver scorecard averages </a:t>
            </a:r>
            <a:r>
              <a:rPr lang="en-US" sz="2800" b="1" dirty="0">
                <a:solidFill>
                  <a:schemeClr val="bg1"/>
                </a:solidFill>
              </a:rPr>
              <a:t>80 (Watch)</a:t>
            </a:r>
            <a:r>
              <a:rPr lang="en-US" sz="2800" dirty="0">
                <a:solidFill>
                  <a:schemeClr val="bg1"/>
                </a:solidFill>
              </a:rPr>
              <a:t>, pointing coaching at the few drivers who are At risk.</a:t>
            </a:r>
          </a:p>
          <a:p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Fast alerts, trusted data, decisions in pounds.</a:t>
            </a:r>
            <a:endParaRPr lang="en-US" sz="2800" dirty="0">
              <a:solidFill>
                <a:schemeClr val="bg1"/>
              </a:solidFill>
            </a:endParaRPr>
          </a:p>
          <a:p>
            <a:pPr rtl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535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CB0C06B6-7A81-C98C-9D79-9A3A95EA7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ED390BD5-82D9-FC7F-9150-50893B2D4ED8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AC24617B-611E-B80B-CC12-C98E2759AB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E84D3E-7B52-4584-7FE7-C87BA49AE7CC}"/>
              </a:ext>
            </a:extLst>
          </p:cNvPr>
          <p:cNvSpPr txBox="1"/>
          <p:nvPr/>
        </p:nvSpPr>
        <p:spPr>
          <a:xfrm>
            <a:off x="1341727" y="322465"/>
            <a:ext cx="122470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Business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B4DEE5-27E0-293A-5C66-3848EFCDB39F}"/>
              </a:ext>
            </a:extLst>
          </p:cNvPr>
          <p:cNvSpPr txBox="1"/>
          <p:nvPr/>
        </p:nvSpPr>
        <p:spPr>
          <a:xfrm>
            <a:off x="1592670" y="1990688"/>
            <a:ext cx="16472304" cy="7048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How a fleet manager puts this to work</a:t>
            </a:r>
            <a:endParaRPr lang="ar-EG" sz="3200" b="1" dirty="0">
              <a:solidFill>
                <a:schemeClr val="bg1"/>
              </a:solidFill>
            </a:endParaRPr>
          </a:p>
          <a:p>
            <a:pPr rtl="0">
              <a:buNone/>
            </a:pPr>
            <a:endParaRPr lang="en-US" sz="2800" b="1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Four recommendations:</a:t>
            </a:r>
            <a:endParaRPr lang="ar-EG" sz="2800" b="1" dirty="0">
              <a:solidFill>
                <a:schemeClr val="bg1"/>
              </a:solidFill>
            </a:endParaRPr>
          </a:p>
          <a:p>
            <a:pPr rtl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Prioritize cold-chain alerts by cargo value:</a:t>
            </a:r>
            <a:r>
              <a:rPr lang="en-US" sz="2800" dirty="0">
                <a:solidFill>
                  <a:schemeClr val="bg1"/>
                </a:solidFill>
              </a:rPr>
              <a:t> medicine alerts after 2 minutes (up to 100% loss), chilled food after 5</a:t>
            </a:r>
            <a:endParaRPr lang="ar-EG" sz="2800" dirty="0">
              <a:solidFill>
                <a:schemeClr val="bg1"/>
              </a:solidFill>
            </a:endParaRPr>
          </a:p>
          <a:p>
            <a:pPr lvl="0" rtl="0"/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Service refrigeration units that breach repeatedly:</a:t>
            </a:r>
            <a:r>
              <a:rPr lang="en-US" sz="2800" dirty="0">
                <a:solidFill>
                  <a:schemeClr val="bg1"/>
                </a:solidFill>
              </a:rPr>
              <a:t> use cold-chain history per vehicle to move from reaction to preventive maintenance</a:t>
            </a:r>
            <a:endParaRPr lang="ar-EG" sz="2800" dirty="0">
              <a:solidFill>
                <a:schemeClr val="bg1"/>
              </a:solidFill>
            </a:endParaRPr>
          </a:p>
          <a:p>
            <a:pPr lvl="0" rtl="0"/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Coach, don’t punish:</a:t>
            </a:r>
            <a:r>
              <a:rPr lang="en-US" sz="2800" dirty="0">
                <a:solidFill>
                  <a:schemeClr val="bg1"/>
                </a:solidFill>
              </a:rPr>
              <a:t> use the Good / Watch / At risk scorecard to target drivers who need support</a:t>
            </a:r>
            <a:endParaRPr lang="ar-EG" sz="2800" dirty="0">
              <a:solidFill>
                <a:schemeClr val="bg1"/>
              </a:solidFill>
            </a:endParaRPr>
          </a:p>
          <a:p>
            <a:pPr lvl="0" rtl="0"/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Block invalid assignments before dispatch:</a:t>
            </a:r>
            <a:r>
              <a:rPr lang="en-US" sz="2800" dirty="0">
                <a:solidFill>
                  <a:schemeClr val="bg1"/>
                </a:solidFill>
              </a:rPr>
              <a:t> never send cold cargo on a truck that cannot refrigerate</a:t>
            </a:r>
          </a:p>
          <a:p>
            <a:pPr rtl="0">
              <a:buNone/>
            </a:pP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Data is simulated, so these show </a:t>
            </a:r>
            <a:r>
              <a:rPr lang="en-US" sz="2800" b="1" dirty="0">
                <a:solidFill>
                  <a:schemeClr val="bg1"/>
                </a:solidFill>
              </a:rPr>
              <a:t>how the platform is used</a:t>
            </a:r>
            <a:r>
              <a:rPr lang="en-US" sz="2800" dirty="0">
                <a:solidFill>
                  <a:schemeClr val="bg1"/>
                </a:solidFill>
              </a:rPr>
              <a:t>, not findings about real drivers.</a:t>
            </a:r>
            <a:endParaRPr lang="ar-EG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331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5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3" name="Google Shape;393;p20"/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94" name="Google Shape;394;p20"/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  <a:endParaRPr sz="2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0"/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" name="Google Shape;396;p20"/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397" name="Google Shape;397;p20"/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0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20"/>
          <p:cNvGrpSpPr/>
          <p:nvPr/>
        </p:nvGrpSpPr>
        <p:grpSpPr>
          <a:xfrm>
            <a:off x="2819400" y="6033581"/>
            <a:ext cx="8402340" cy="415497"/>
            <a:chOff x="581660" y="4797006"/>
            <a:chExt cx="5601560" cy="276998"/>
          </a:xfrm>
        </p:grpSpPr>
        <p:sp>
          <p:nvSpPr>
            <p:cNvPr id="400" name="Google Shape;400;p20"/>
            <p:cNvSpPr/>
            <p:nvPr/>
          </p:nvSpPr>
          <p:spPr>
            <a:xfrm>
              <a:off x="663820" y="4797006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Key Tasks </a:t>
              </a:r>
              <a:endParaRPr/>
            </a:p>
          </p:txBody>
        </p:sp>
        <p:sp>
          <p:nvSpPr>
            <p:cNvPr id="401" name="Google Shape;401;p20"/>
            <p:cNvSpPr/>
            <p:nvPr/>
          </p:nvSpPr>
          <p:spPr>
            <a:xfrm>
              <a:off x="581660" y="4822004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20"/>
          <p:cNvGrpSpPr/>
          <p:nvPr/>
        </p:nvGrpSpPr>
        <p:grpSpPr>
          <a:xfrm>
            <a:off x="2811827" y="6906092"/>
            <a:ext cx="8409914" cy="415498"/>
            <a:chOff x="500986" y="4698111"/>
            <a:chExt cx="5606609" cy="276998"/>
          </a:xfrm>
        </p:grpSpPr>
        <p:sp>
          <p:nvSpPr>
            <p:cNvPr id="403" name="Google Shape;403;p20"/>
            <p:cNvSpPr/>
            <p:nvPr/>
          </p:nvSpPr>
          <p:spPr>
            <a:xfrm>
              <a:off x="588195" y="4698111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Results and insights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500986" y="4710610"/>
              <a:ext cx="30479" cy="30479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20"/>
          <p:cNvGrpSpPr/>
          <p:nvPr/>
        </p:nvGrpSpPr>
        <p:grpSpPr>
          <a:xfrm>
            <a:off x="2819400" y="8071724"/>
            <a:ext cx="8522941" cy="415499"/>
            <a:chOff x="571500" y="5294153"/>
            <a:chExt cx="5669009" cy="276999"/>
          </a:xfrm>
        </p:grpSpPr>
        <p:sp>
          <p:nvSpPr>
            <p:cNvPr id="406" name="Google Shape;406;p20"/>
            <p:cNvSpPr/>
            <p:nvPr/>
          </p:nvSpPr>
          <p:spPr>
            <a:xfrm>
              <a:off x="721109" y="5294153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20"/>
            <p:cNvSpPr/>
            <p:nvPr/>
          </p:nvSpPr>
          <p:spPr>
            <a:xfrm>
              <a:off x="571500" y="529415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8" name="Google Shape;408;p20"/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409" name="Google Shape;409;p20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410" name="Google Shape;410;p20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" name="Google Shape;411;p20"/>
          <p:cNvGrpSpPr/>
          <p:nvPr/>
        </p:nvGrpSpPr>
        <p:grpSpPr>
          <a:xfrm>
            <a:off x="2765277" y="7448954"/>
            <a:ext cx="8485648" cy="471395"/>
            <a:chOff x="622128" y="5495003"/>
            <a:chExt cx="5657098" cy="314263"/>
          </a:xfrm>
        </p:grpSpPr>
        <p:sp>
          <p:nvSpPr>
            <p:cNvPr id="412" name="Google Shape;412;p20"/>
            <p:cNvSpPr/>
            <p:nvPr/>
          </p:nvSpPr>
          <p:spPr>
            <a:xfrm>
              <a:off x="759826" y="5522008"/>
              <a:ext cx="5519400" cy="287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/>
            </a:p>
          </p:txBody>
        </p:sp>
        <p:sp>
          <p:nvSpPr>
            <p:cNvPr id="413" name="Google Shape;413;p20"/>
            <p:cNvSpPr/>
            <p:nvPr/>
          </p:nvSpPr>
          <p:spPr>
            <a:xfrm rot="10800000" flipH="1">
              <a:off x="622128" y="5495003"/>
              <a:ext cx="36082" cy="276999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" name="Google Shape;414;p20"/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415" name="Google Shape;415;p20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0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D4B56E21-46A8-3E4B-B190-26C8CC92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1975C3D0-6410-D853-B271-BFFD7DA86ACC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C0318B78-772C-96F8-9330-561C1DA407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FF82AC-0DF3-4709-C169-FD3A48B609B1}"/>
              </a:ext>
            </a:extLst>
          </p:cNvPr>
          <p:cNvSpPr txBox="1"/>
          <p:nvPr/>
        </p:nvSpPr>
        <p:spPr>
          <a:xfrm>
            <a:off x="1341727" y="322465"/>
            <a:ext cx="1224701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Future Work</a:t>
            </a:r>
            <a:r>
              <a:rPr lang="ar-EG" sz="5400" dirty="0">
                <a:solidFill>
                  <a:schemeClr val="bg1"/>
                </a:solidFill>
              </a:rPr>
              <a:t>   </a:t>
            </a:r>
            <a:r>
              <a:rPr lang="en-US" sz="5400" dirty="0">
                <a:solidFill>
                  <a:schemeClr val="bg1"/>
                </a:solidFill>
              </a:rPr>
              <a:t>- What comes next</a:t>
            </a:r>
          </a:p>
          <a:p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14C917-4706-B595-E16F-7ECB92C40D9D}"/>
              </a:ext>
            </a:extLst>
          </p:cNvPr>
          <p:cNvSpPr txBox="1"/>
          <p:nvPr/>
        </p:nvSpPr>
        <p:spPr>
          <a:xfrm>
            <a:off x="1816630" y="2511910"/>
            <a:ext cx="1533394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dirty="0">
                <a:solidFill>
                  <a:schemeClr val="bg1"/>
                </a:solidFill>
              </a:rPr>
              <a:t>The core platform is complete.</a:t>
            </a:r>
          </a:p>
          <a:p>
            <a:pPr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The next steps make it smarter, fuller and closer to real life.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Offline truck tracking:</a:t>
            </a:r>
            <a:r>
              <a:rPr lang="en-US" sz="2800" dirty="0">
                <a:solidFill>
                  <a:schemeClr val="bg1"/>
                </a:solidFill>
              </a:rPr>
              <a:t> detect silent devices (DEVICE_OFFLINE, SENSOR_SILENT), reconcile what the truck stored with what actually arrived. The generator already simulates it; the detection is the next step</a:t>
            </a:r>
          </a:p>
          <a:p>
            <a:pPr lvl="0" rtl="0"/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More alerts and a full cost layer:</a:t>
            </a:r>
            <a:r>
              <a:rPr lang="en-US" sz="2800" dirty="0">
                <a:solidFill>
                  <a:schemeClr val="bg1"/>
                </a:solidFill>
              </a:rPr>
              <a:t> late-arrival, data-gap and invalid-rate alerts, plus idling cost and cargo-at-risk views in Power BI</a:t>
            </a:r>
          </a:p>
          <a:p>
            <a:pPr lvl="0" rtl="0"/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Hardening the pipelines:</a:t>
            </a:r>
            <a:r>
              <a:rPr lang="en-US" sz="2800" dirty="0">
                <a:solidFill>
                  <a:schemeClr val="bg1"/>
                </a:solidFill>
              </a:rPr>
              <a:t> failure notifications, </a:t>
            </a:r>
            <a:r>
              <a:rPr lang="en-US" sz="2800" dirty="0" err="1">
                <a:solidFill>
                  <a:schemeClr val="bg1"/>
                </a:solidFill>
                <a:latin typeface="Arial"/>
              </a:rPr>
              <a:t>alerts_load</a:t>
            </a:r>
            <a:r>
              <a:rPr lang="en-US" sz="2800" dirty="0">
                <a:solidFill>
                  <a:schemeClr val="bg1"/>
                </a:solidFill>
              </a:rPr>
              <a:t> after Gold so </a:t>
            </a:r>
            <a:r>
              <a:rPr lang="en-US" sz="2800" dirty="0" err="1">
                <a:solidFill>
                  <a:schemeClr val="bg1"/>
                </a:solidFill>
                <a:latin typeface="Arial"/>
              </a:rPr>
              <a:t>vehicle_key</a:t>
            </a:r>
            <a:r>
              <a:rPr lang="en-US" sz="2800" dirty="0">
                <a:solidFill>
                  <a:schemeClr val="bg1"/>
                </a:solidFill>
              </a:rPr>
              <a:t> is never empty, and a finished batch dashboard</a:t>
            </a:r>
          </a:p>
          <a:p>
            <a:pPr rtl="0">
              <a:buNone/>
            </a:pP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Then swap the simulator for </a:t>
            </a:r>
            <a:r>
              <a:rPr lang="en-US" sz="2800" b="1" dirty="0">
                <a:solidFill>
                  <a:schemeClr val="bg1"/>
                </a:solidFill>
              </a:rPr>
              <a:t>real telematics devices</a:t>
            </a:r>
            <a:r>
              <a:rPr lang="en-US" sz="2800" dirty="0">
                <a:solidFill>
                  <a:schemeClr val="bg1"/>
                </a:solidFill>
              </a:rPr>
              <a:t>: the same schema, the same pipeline.</a:t>
            </a:r>
          </a:p>
        </p:txBody>
      </p:sp>
    </p:spTree>
    <p:extLst>
      <p:ext uri="{BB962C8B-B14F-4D97-AF65-F5344CB8AC3E}">
        <p14:creationId xmlns:p14="http://schemas.microsoft.com/office/powerpoint/2010/main" val="2343784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7C93F03C-11D8-FF49-8D65-F92E48EB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BDD4EAC8-08C7-21B8-D1BE-10A4C2285EBD}"/>
              </a:ext>
            </a:extLst>
          </p:cNvPr>
          <p:cNvCxnSpPr/>
          <p:nvPr/>
        </p:nvCxnSpPr>
        <p:spPr>
          <a:xfrm flipH="1">
            <a:off x="1169861" y="3487142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AAAE5D51-ADB8-83D6-E414-F001D98340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05631-4509-2EA7-4ACC-52B92214BE53}"/>
              </a:ext>
            </a:extLst>
          </p:cNvPr>
          <p:cNvSpPr txBox="1"/>
          <p:nvPr/>
        </p:nvSpPr>
        <p:spPr>
          <a:xfrm>
            <a:off x="1607099" y="737964"/>
            <a:ext cx="122470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36C9B5-C7D5-C151-7392-3A8F963CAEF5}"/>
              </a:ext>
            </a:extLst>
          </p:cNvPr>
          <p:cNvSpPr txBox="1"/>
          <p:nvPr/>
        </p:nvSpPr>
        <p:spPr>
          <a:xfrm>
            <a:off x="1607099" y="3218121"/>
            <a:ext cx="16257155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Every truck talks. Now someone is listening.</a:t>
            </a:r>
          </a:p>
          <a:p>
            <a:pPr rtl="0">
              <a:buNone/>
            </a:pP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We built a Lakehouse on Microsoft Fabric that </a:t>
            </a:r>
            <a:r>
              <a:rPr lang="en-US" sz="2800" b="1" dirty="0">
                <a:solidFill>
                  <a:schemeClr val="bg1"/>
                </a:solidFill>
              </a:rPr>
              <a:t>connects the signals, catches the problems, and proves it.</a:t>
            </a:r>
            <a:endParaRPr lang="ar-EG" sz="2800" b="1" dirty="0">
              <a:solidFill>
                <a:schemeClr val="bg1"/>
              </a:solidFill>
            </a:endParaRPr>
          </a:p>
          <a:p>
            <a:pPr rtl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Three checkmarks (what we delivered):</a:t>
            </a:r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✓ </a:t>
            </a:r>
            <a:r>
              <a:rPr lang="en-US" sz="2800" b="1" dirty="0">
                <a:solidFill>
                  <a:schemeClr val="bg1"/>
                </a:solidFill>
              </a:rPr>
              <a:t>Two paths, one stream:</a:t>
            </a:r>
            <a:r>
              <a:rPr lang="en-US" sz="2800" dirty="0">
                <a:solidFill>
                  <a:schemeClr val="bg1"/>
                </a:solidFill>
              </a:rPr>
              <a:t> speed for alerts, batch for truth (Lambda architecture)</a:t>
            </a: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✓ </a:t>
            </a:r>
            <a:r>
              <a:rPr lang="en-US" sz="2800" b="1" dirty="0">
                <a:solidFill>
                  <a:schemeClr val="bg1"/>
                </a:solidFill>
              </a:rPr>
              <a:t>Proven against ground truth:</a:t>
            </a:r>
            <a:r>
              <a:rPr lang="en-US" sz="2800" dirty="0">
                <a:solidFill>
                  <a:schemeClr val="bg1"/>
                </a:solidFill>
              </a:rPr>
              <a:t> clean run raises nothing, injected run [X% precision, X% recall], nothing silently lost</a:t>
            </a: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✓ </a:t>
            </a:r>
            <a:r>
              <a:rPr lang="en-US" sz="2800" b="1" dirty="0">
                <a:solidFill>
                  <a:schemeClr val="bg1"/>
                </a:solidFill>
              </a:rPr>
              <a:t>Automated and safe to rerun:</a:t>
            </a:r>
            <a:r>
              <a:rPr lang="en-US" sz="2800" dirty="0">
                <a:solidFill>
                  <a:schemeClr val="bg1"/>
                </a:solidFill>
              </a:rPr>
              <a:t> two pipelines, quality gate, history-aware Gold model</a:t>
            </a:r>
          </a:p>
        </p:txBody>
      </p:sp>
    </p:spTree>
    <p:extLst>
      <p:ext uri="{BB962C8B-B14F-4D97-AF65-F5344CB8AC3E}">
        <p14:creationId xmlns:p14="http://schemas.microsoft.com/office/powerpoint/2010/main" val="31438420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78672" y="1865670"/>
            <a:ext cx="7330656" cy="7440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0608" y="2328543"/>
            <a:ext cx="8263434" cy="6555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67425" y="3867150"/>
            <a:ext cx="6153150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8109E8AF12D141B88127246CAE047A" ma:contentTypeVersion="5" ma:contentTypeDescription="Create a new document." ma:contentTypeScope="" ma:versionID="7445ec22840dfe40b5c2684015a04f18">
  <xsd:schema xmlns:xsd="http://www.w3.org/2001/XMLSchema" xmlns:xs="http://www.w3.org/2001/XMLSchema" xmlns:p="http://schemas.microsoft.com/office/2006/metadata/properties" xmlns:ns3="ede0bd51-daa0-4808-87df-0c52c33f4ba0" targetNamespace="http://schemas.microsoft.com/office/2006/metadata/properties" ma:root="true" ma:fieldsID="69b32950e832ca6eaec22e744c1d672b" ns3:_="">
    <xsd:import namespace="ede0bd51-daa0-4808-87df-0c52c33f4ba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e0bd51-daa0-4808-87df-0c52c33f4ba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e0bd51-daa0-4808-87df-0c52c33f4ba0" xsi:nil="true"/>
  </documentManagement>
</p:properties>
</file>

<file path=customXml/itemProps1.xml><?xml version="1.0" encoding="utf-8"?>
<ds:datastoreItem xmlns:ds="http://schemas.openxmlformats.org/officeDocument/2006/customXml" ds:itemID="{9C6B64E7-2E6D-4E92-AFA3-CAF37A494F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e0bd51-daa0-4808-87df-0c52c33f4b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791FA4-21EA-45E9-94BD-23F7BB3D3E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A5E29F-24C7-4F4F-B857-45BEF4E0283A}">
  <ds:schemaRefs>
    <ds:schemaRef ds:uri="http://www.w3.org/XML/1998/namespace"/>
    <ds:schemaRef ds:uri="ede0bd51-daa0-4808-87df-0c52c33f4ba0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2753</Words>
  <Application>Microsoft Office PowerPoint</Application>
  <PresentationFormat>Custom</PresentationFormat>
  <Paragraphs>371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Malgun Gothic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farah walid</dc:creator>
  <cp:lastModifiedBy>الاء هانى  السيد مصطفى عمر</cp:lastModifiedBy>
  <cp:revision>7</cp:revision>
  <dcterms:created xsi:type="dcterms:W3CDTF">2006-08-16T00:00:00Z</dcterms:created>
  <dcterms:modified xsi:type="dcterms:W3CDTF">2026-10-29T13:25:20Z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0x0101006A8109E8AF12D141B88127246CAE047A</vt:lpwstr>
  </property>
</Properties>
</file>